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4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5" r:id="rId7"/>
    <p:sldId id="264" r:id="rId8"/>
    <p:sldId id="266" r:id="rId9"/>
    <p:sldId id="269" r:id="rId10"/>
    <p:sldId id="267" r:id="rId11"/>
    <p:sldId id="271" r:id="rId12"/>
    <p:sldId id="262" r:id="rId13"/>
    <p:sldId id="270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淡色スタイル 1 - アクセント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211" autoAdjust="0"/>
    <p:restoredTop sz="94660"/>
  </p:normalViewPr>
  <p:slideViewPr>
    <p:cSldViewPr snapToGrid="0">
      <p:cViewPr varScale="1">
        <p:scale>
          <a:sx n="59" d="100"/>
          <a:sy n="59" d="100"/>
        </p:scale>
        <p:origin x="992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073BC5-BF59-4979-9B2D-9E9B41AAFB2C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478FDF-FCE3-4B06-B89D-85948C80CF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66787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478FDF-FCE3-4B06-B89D-85948C80CF0A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82813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D2111-7DBD-C978-E28F-522173BA4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E8E6E3E-35B3-32C8-4E2D-276634E0DA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4AA160A-87FF-DC26-E569-BFFA85C395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C65D5AF-0C09-DF9E-C8C3-C09D9713BA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478FDF-FCE3-4B06-B89D-85948C80CF0A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72497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7D825-6980-6506-435C-417199F9C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6A27884-1313-0BC3-C3A6-036A928C33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176AFA3-0994-6941-742F-044F67B13F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8C845D5-8102-7FC4-FEAE-DA86B17987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478FDF-FCE3-4B06-B89D-85948C80CF0A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69813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B4FA8-B749-9616-DDDF-28B28C04E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C275F98-D0FC-1C58-6474-DD00935396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CCF3AF7-5011-4D6C-EBA3-66727672C6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764A288-EF20-7DC4-3126-DDFB005ECE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478FDF-FCE3-4B06-B89D-85948C80CF0A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88432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08E15-DCED-E5A1-ED1B-903501050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C3DFFE1-E06A-87E1-D099-3BDDF02F43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26CDDF6-699A-F484-15F2-9BF96D4A9E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A823F6F-6B4F-84D2-C8AE-E17B511C2F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478FDF-FCE3-4B06-B89D-85948C80CF0A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87527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2F64B-402B-3FD2-BD36-981A0AA2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CE70715-86A6-70F4-33C7-72BE3A61FB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800D9DB-3A16-939C-9505-A3DC70E1E6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5FC0F2E-4C0C-AF08-CB95-F51DB13834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478FDF-FCE3-4B06-B89D-85948C80CF0A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28118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7445C-BD04-3050-6889-CF75877E5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C3FA20D5-17F8-AF61-1E81-D4F75EB49E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5F1E1BD-00BD-C717-5B11-508B7CD3F1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2EC7DC5-3B22-FDDA-5662-3661928C36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478FDF-FCE3-4B06-B89D-85948C80CF0A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03578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6B09E-044D-277F-6860-7DD1B223D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EE88AB5-7FF0-977B-E810-EB65AFE4DD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6FC8910-D5E4-E083-4E8A-7E9F497591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FCF1B4E-1EB9-9588-D90A-2E2C9FAB9D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478FDF-FCE3-4B06-B89D-85948C80CF0A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37419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7C382-C260-CA1E-D288-4534DC319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82F8843-3FE2-DA3C-C469-B153E8ADB0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D031639-161E-4823-FFA0-63363DF569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85CD1FA-0FB8-F46C-7D80-1E13681429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478FDF-FCE3-4B06-B89D-85948C80CF0A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82235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F64D6-0070-6E16-B67C-E12FDF2A1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9A44AA7-0CC1-7469-1D08-44D22B64F8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F8DF548-5EDB-E7D2-3C50-46DB514389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3C0AC68-E389-7E78-4591-41292E25C9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478FDF-FCE3-4B06-B89D-85948C80CF0A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0363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66603-D18D-FB2A-D5A0-F535B2603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914452A-899B-4F3D-F807-C679ED43A3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E1FEBD4-209F-168E-B684-CA43292B69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ＭＳ Ｐゴシック" panose="020B0600070205080204" pitchFamily="50" charset="-128"/>
                <a:ea typeface="ＭＳ Ｐゴシック" panose="020B0600070205080204" pitchFamily="50" charset="-128"/>
                <a:cs typeface="+mn-cs"/>
              </a:rPr>
              <a:t>→テストを踏まえて修正をするという流れを実感することができた。</a:t>
            </a:r>
            <a:endParaRPr kumimoji="1" lang="en-US" altLang="ja-JP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ＭＳ Ｐゴシック" panose="020B0600070205080204" pitchFamily="50" charset="-128"/>
              <a:ea typeface="ＭＳ Ｐゴシック" panose="020B0600070205080204" pitchFamily="50" charset="-128"/>
              <a:cs typeface="+mn-cs"/>
            </a:endParaRPr>
          </a:p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00FB025-92A4-833D-3FD0-3FF1057CF7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478FDF-FCE3-4B06-B89D-85948C80CF0A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61382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0E79F-3919-4012-B99F-6FD1420B8D65}" type="datetime1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37E92-EED2-47AB-AC31-355EF2C00DF5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6869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6DA53-A0E8-4637-AB03-BEAFBC3AA1F9}" type="datetime1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37E92-EED2-47AB-AC31-355EF2C00D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1854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CA51E-9558-49FF-AA53-BBA65C374BA3}" type="datetime1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37E92-EED2-47AB-AC31-355EF2C00DF5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3019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5F93C-FD14-4465-AACB-E5F2641222B7}" type="datetime1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37E92-EED2-47AB-AC31-355EF2C00D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5532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DD823-3E24-4721-A7D9-DCB5B97EC2CD}" type="datetime1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37E92-EED2-47AB-AC31-355EF2C00D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5054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61A3D-67AE-4C83-B9A3-0DD47C551DC2}" type="datetime1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37E92-EED2-47AB-AC31-355EF2C00D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7645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46D17-C81C-48BF-8474-66F2D13F2641}" type="datetime1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37E92-EED2-47AB-AC31-355EF2C00D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2078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3462827-1911-4791-9862-3A52DE3BAE60}" type="datetime1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B837E92-EED2-47AB-AC31-355EF2C00D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6508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95FF7-FE53-4685-A1A0-5AF73461F802}" type="datetime1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37E92-EED2-47AB-AC31-355EF2C00D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0254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0F94E-5EB9-48EC-9FAE-C696D59CD1FA}" type="datetime1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37E92-EED2-47AB-AC31-355EF2C00D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1254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BAC89-68EA-44F2-B12A-F9CCFEC7FA42}" type="datetime1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37E92-EED2-47AB-AC31-355EF2C00D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1944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1C4C7D9-4C20-4F83-A215-4C0FCB86CE16}" type="datetime1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B837E92-EED2-47AB-AC31-355EF2C00DF5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8058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kumimoji="1"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kumimoji="1"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6D69EF-C78F-E758-3343-9D6899EAAE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9941" y="2257503"/>
            <a:ext cx="9533709" cy="1483941"/>
          </a:xfrm>
        </p:spPr>
        <p:txBody>
          <a:bodyPr/>
          <a:lstStyle/>
          <a:p>
            <a:pPr algn="ctr"/>
            <a:r>
              <a:rPr kumimoji="1" lang="en-US" altLang="ja-JP" dirty="0"/>
              <a:t>Web</a:t>
            </a:r>
            <a:r>
              <a:rPr kumimoji="1" lang="ja-JP" altLang="en-US" dirty="0"/>
              <a:t>開発演習</a:t>
            </a:r>
          </a:p>
        </p:txBody>
      </p:sp>
      <p:sp>
        <p:nvSpPr>
          <p:cNvPr id="4" name="字幕 2">
            <a:extLst>
              <a:ext uri="{FF2B5EF4-FFF2-40B4-BE49-F238E27FC236}">
                <a16:creationId xmlns:a16="http://schemas.microsoft.com/office/drawing/2014/main" id="{A35ABF20-ED97-6323-343B-500502DABB36}"/>
              </a:ext>
            </a:extLst>
          </p:cNvPr>
          <p:cNvSpPr txBox="1">
            <a:spLocks/>
          </p:cNvSpPr>
          <p:nvPr/>
        </p:nvSpPr>
        <p:spPr>
          <a:xfrm>
            <a:off x="7076309" y="4565562"/>
            <a:ext cx="3003863" cy="1143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kumimoji="1"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kumimoji="1"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kumimoji="1"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dirty="0">
                <a:solidFill>
                  <a:schemeClr val="tx1"/>
                </a:solidFill>
                <a:latin typeface="+mj-ea"/>
                <a:ea typeface="+mj-ea"/>
              </a:rPr>
              <a:t>イシダシステム開発</a:t>
            </a:r>
            <a:endParaRPr lang="en-US" altLang="ja-JP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ctr"/>
            <a:r>
              <a:rPr lang="ja-JP" altLang="en-US" dirty="0">
                <a:solidFill>
                  <a:schemeClr val="tx1"/>
                </a:solidFill>
                <a:latin typeface="+mj-ea"/>
                <a:ea typeface="+mj-ea"/>
              </a:rPr>
              <a:t>日高　優</a:t>
            </a:r>
          </a:p>
        </p:txBody>
      </p:sp>
      <p:sp>
        <p:nvSpPr>
          <p:cNvPr id="5" name="字幕 2">
            <a:extLst>
              <a:ext uri="{FF2B5EF4-FFF2-40B4-BE49-F238E27FC236}">
                <a16:creationId xmlns:a16="http://schemas.microsoft.com/office/drawing/2014/main" id="{78F569B5-640E-9366-4FE7-7508AC833E96}"/>
              </a:ext>
            </a:extLst>
          </p:cNvPr>
          <p:cNvSpPr txBox="1">
            <a:spLocks/>
          </p:cNvSpPr>
          <p:nvPr/>
        </p:nvSpPr>
        <p:spPr>
          <a:xfrm>
            <a:off x="9492343" y="5851437"/>
            <a:ext cx="3003863" cy="1143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kumimoji="1"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kumimoji="1"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kumimoji="1"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dirty="0">
                <a:solidFill>
                  <a:schemeClr val="tx1"/>
                </a:solidFill>
                <a:latin typeface="+mj-ea"/>
                <a:ea typeface="+mj-ea"/>
              </a:rPr>
              <a:t>2026/5/29</a:t>
            </a:r>
          </a:p>
          <a:p>
            <a:pPr algn="ctr"/>
            <a:endParaRPr lang="ja-JP" altLang="en-US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8" name="スライド番号プレースホルダー 7">
            <a:extLst>
              <a:ext uri="{FF2B5EF4-FFF2-40B4-BE49-F238E27FC236}">
                <a16:creationId xmlns:a16="http://schemas.microsoft.com/office/drawing/2014/main" id="{554F303A-7E30-76D4-5DD3-D92C2E5C4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99667" y="6422937"/>
            <a:ext cx="1312025" cy="365125"/>
          </a:xfrm>
        </p:spPr>
        <p:txBody>
          <a:bodyPr/>
          <a:lstStyle/>
          <a:p>
            <a:fld id="{2B837E92-EED2-47AB-AC31-355EF2C00DF5}" type="slidenum">
              <a:rPr kumimoji="1" lang="ja-JP" altLang="en-US" sz="2000" smtClean="0"/>
              <a:t>1</a:t>
            </a:fld>
            <a:endParaRPr kumimoji="1" lang="ja-JP" altLang="en-US" sz="2000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F66F6147-686E-F2C2-714F-6800BF639C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646655" flipH="1">
            <a:off x="1809344" y="1922110"/>
            <a:ext cx="1546108" cy="1911726"/>
          </a:xfrm>
          <a:prstGeom prst="rect">
            <a:avLst/>
          </a:prstGeom>
        </p:spPr>
      </p:pic>
      <p:pic>
        <p:nvPicPr>
          <p:cNvPr id="9" name="グラフィックス 8" descr="プログラマー女性 枠線">
            <a:extLst>
              <a:ext uri="{FF2B5EF4-FFF2-40B4-BE49-F238E27FC236}">
                <a16:creationId xmlns:a16="http://schemas.microsoft.com/office/drawing/2014/main" id="{5F9CAF6C-7CA2-4221-BF0F-D07094A44D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59414" y="4943474"/>
            <a:ext cx="564697" cy="564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283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352CD1-1898-87FD-9C89-990EBA0C1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286603"/>
            <a:ext cx="9022080" cy="1450757"/>
          </a:xfrm>
        </p:spPr>
        <p:txBody>
          <a:bodyPr/>
          <a:lstStyle/>
          <a:p>
            <a:r>
              <a:rPr kumimoji="1" lang="ja-JP" altLang="en-US" dirty="0"/>
              <a:t>目次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E98EC4B-2905-2362-7C8C-2EDA69B72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3600" y="2346476"/>
            <a:ext cx="4802777" cy="1343781"/>
          </a:xfrm>
        </p:spPr>
        <p:txBody>
          <a:bodyPr>
            <a:noAutofit/>
          </a:bodyPr>
          <a:lstStyle/>
          <a:p>
            <a:r>
              <a:rPr kumimoji="1" lang="ja-JP" altLang="en-US" sz="2800" dirty="0">
                <a:latin typeface="+mn-ea"/>
              </a:rPr>
              <a:t>〇開発スケジュールの報告</a:t>
            </a:r>
            <a:endParaRPr kumimoji="1" lang="en-US" altLang="ja-JP" sz="2800" dirty="0">
              <a:latin typeface="+mn-ea"/>
            </a:endParaRPr>
          </a:p>
          <a:p>
            <a:endParaRPr kumimoji="1" lang="en-US" altLang="ja-JP" sz="2800" dirty="0">
              <a:latin typeface="+mn-ea"/>
            </a:endParaRPr>
          </a:p>
          <a:p>
            <a:r>
              <a:rPr kumimoji="1" lang="ja-JP" altLang="en-US" sz="2800" dirty="0">
                <a:latin typeface="+mn-ea"/>
              </a:rPr>
              <a:t>〇成果物の概要</a:t>
            </a:r>
            <a:endParaRPr kumimoji="1" lang="en-US" altLang="ja-JP" sz="2800" dirty="0">
              <a:latin typeface="+mn-ea"/>
            </a:endParaRPr>
          </a:p>
          <a:p>
            <a:endParaRPr kumimoji="1" lang="en-US" altLang="ja-JP" sz="2800" dirty="0">
              <a:latin typeface="+mn-ea"/>
            </a:endParaRPr>
          </a:p>
          <a:p>
            <a:r>
              <a:rPr lang="ja-JP" altLang="en-US" sz="2800" dirty="0">
                <a:latin typeface="+mn-ea"/>
              </a:rPr>
              <a:t>〇得られた成果の報告</a:t>
            </a:r>
            <a:endParaRPr kumimoji="1" lang="ja-JP" altLang="en-US" sz="2800" dirty="0">
              <a:latin typeface="+mn-ea"/>
            </a:endParaRPr>
          </a:p>
        </p:txBody>
      </p:sp>
      <p:sp>
        <p:nvSpPr>
          <p:cNvPr id="5" name="スライド番号プレースホルダー 7">
            <a:extLst>
              <a:ext uri="{FF2B5EF4-FFF2-40B4-BE49-F238E27FC236}">
                <a16:creationId xmlns:a16="http://schemas.microsoft.com/office/drawing/2014/main" id="{9EB2AE90-911D-71F0-B04A-305CAF4D38CC}"/>
              </a:ext>
            </a:extLst>
          </p:cNvPr>
          <p:cNvSpPr txBox="1">
            <a:spLocks/>
          </p:cNvSpPr>
          <p:nvPr/>
        </p:nvSpPr>
        <p:spPr>
          <a:xfrm>
            <a:off x="10499667" y="6422937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837E92-EED2-47AB-AC31-355EF2C00DF5}" type="slidenum">
              <a:rPr kumimoji="1" lang="ja-JP" altLang="en-US" sz="2000" smtClean="0"/>
              <a:pPr/>
              <a:t>2</a:t>
            </a:fld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440013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3180E-15DC-1994-F8A0-D0F57DFE4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D4B9C8B9-FB0C-5A6F-E7AE-C940AD06D861}"/>
              </a:ext>
            </a:extLst>
          </p:cNvPr>
          <p:cNvSpPr/>
          <p:nvPr/>
        </p:nvSpPr>
        <p:spPr>
          <a:xfrm>
            <a:off x="1589315" y="1914867"/>
            <a:ext cx="9013372" cy="1416164"/>
          </a:xfrm>
          <a:prstGeom prst="rect">
            <a:avLst/>
          </a:prstGeom>
          <a:noFill/>
          <a:ln w="38100">
            <a:solidFill>
              <a:schemeClr val="accent1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08E03D8-3C89-451D-9087-5FBFF3C50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058" y="856760"/>
            <a:ext cx="6052456" cy="830997"/>
          </a:xfrm>
        </p:spPr>
        <p:txBody>
          <a:bodyPr>
            <a:normAutofit fontScale="90000"/>
          </a:bodyPr>
          <a:lstStyle/>
          <a:p>
            <a:r>
              <a:rPr kumimoji="1" lang="ja-JP" altLang="en-US" dirty="0"/>
              <a:t>開発スケジュールの報告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9F1CC7B-572C-9B28-47A2-42FD787A3A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1287" y="2461139"/>
            <a:ext cx="3690257" cy="723295"/>
          </a:xfrm>
        </p:spPr>
        <p:txBody>
          <a:bodyPr>
            <a:noAutofit/>
          </a:bodyPr>
          <a:lstStyle/>
          <a:p>
            <a:r>
              <a:rPr lang="ja-JP" altLang="en-US" sz="2800" dirty="0">
                <a:latin typeface="+mn-ea"/>
              </a:rPr>
              <a:t>社員情報管理システム</a:t>
            </a:r>
            <a:endParaRPr lang="en-US" altLang="ja-JP" sz="2800" dirty="0">
              <a:latin typeface="+mn-ea"/>
            </a:endParaRPr>
          </a:p>
        </p:txBody>
      </p:sp>
      <p:sp>
        <p:nvSpPr>
          <p:cNvPr id="5" name="スライド番号プレースホルダー 7">
            <a:extLst>
              <a:ext uri="{FF2B5EF4-FFF2-40B4-BE49-F238E27FC236}">
                <a16:creationId xmlns:a16="http://schemas.microsoft.com/office/drawing/2014/main" id="{B7FE4A81-5537-6946-8E95-1705DAD7B707}"/>
              </a:ext>
            </a:extLst>
          </p:cNvPr>
          <p:cNvSpPr txBox="1">
            <a:spLocks/>
          </p:cNvSpPr>
          <p:nvPr/>
        </p:nvSpPr>
        <p:spPr>
          <a:xfrm>
            <a:off x="10499667" y="6422937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837E92-EED2-47AB-AC31-355EF2C00DF5}" type="slidenum">
              <a:rPr kumimoji="1" lang="ja-JP" altLang="en-US" sz="2000" smtClean="0"/>
              <a:pPr/>
              <a:t>3</a:t>
            </a:fld>
            <a:endParaRPr kumimoji="1" lang="ja-JP" altLang="en-US" sz="20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9EE83EF-AD39-0EDC-F49B-B597FD2F6679}"/>
              </a:ext>
            </a:extLst>
          </p:cNvPr>
          <p:cNvSpPr txBox="1"/>
          <p:nvPr/>
        </p:nvSpPr>
        <p:spPr>
          <a:xfrm>
            <a:off x="6746965" y="2407289"/>
            <a:ext cx="440871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2400" dirty="0">
                <a:latin typeface="+mn-ea"/>
              </a:rPr>
              <a:t>・社員登録・社員一覧表示</a:t>
            </a:r>
            <a:endParaRPr kumimoji="1" lang="en-US" altLang="ja-JP" sz="2400" dirty="0">
              <a:latin typeface="+mn-ea"/>
            </a:endParaRPr>
          </a:p>
          <a:p>
            <a:r>
              <a:rPr lang="ja-JP" altLang="en-US" sz="2400" dirty="0">
                <a:latin typeface="+mn-ea"/>
              </a:rPr>
              <a:t>・部門登録</a:t>
            </a:r>
            <a:r>
              <a:rPr kumimoji="1" lang="ja-JP" altLang="en-US" sz="2400" dirty="0">
                <a:latin typeface="+mn-ea"/>
              </a:rPr>
              <a:t>・部門一覧表示</a:t>
            </a:r>
            <a:endParaRPr lang="ja-JP" altLang="en-US" sz="2400" dirty="0"/>
          </a:p>
        </p:txBody>
      </p:sp>
      <p:graphicFrame>
        <p:nvGraphicFramePr>
          <p:cNvPr id="9" name="表 8">
            <a:extLst>
              <a:ext uri="{FF2B5EF4-FFF2-40B4-BE49-F238E27FC236}">
                <a16:creationId xmlns:a16="http://schemas.microsoft.com/office/drawing/2014/main" id="{F5457434-F47E-8B78-4CC8-0ED64CE570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595957"/>
              </p:ext>
            </p:extLst>
          </p:nvPr>
        </p:nvGraphicFramePr>
        <p:xfrm>
          <a:off x="283028" y="3526970"/>
          <a:ext cx="11528664" cy="2064577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646952">
                  <a:extLst>
                    <a:ext uri="{9D8B030D-6E8A-4147-A177-3AD203B41FA5}">
                      <a16:colId xmlns:a16="http://schemas.microsoft.com/office/drawing/2014/main" val="2797956717"/>
                    </a:ext>
                  </a:extLst>
                </a:gridCol>
                <a:gridCol w="1646952">
                  <a:extLst>
                    <a:ext uri="{9D8B030D-6E8A-4147-A177-3AD203B41FA5}">
                      <a16:colId xmlns:a16="http://schemas.microsoft.com/office/drawing/2014/main" val="1604547368"/>
                    </a:ext>
                  </a:extLst>
                </a:gridCol>
                <a:gridCol w="1646952">
                  <a:extLst>
                    <a:ext uri="{9D8B030D-6E8A-4147-A177-3AD203B41FA5}">
                      <a16:colId xmlns:a16="http://schemas.microsoft.com/office/drawing/2014/main" val="3336834589"/>
                    </a:ext>
                  </a:extLst>
                </a:gridCol>
                <a:gridCol w="1646952">
                  <a:extLst>
                    <a:ext uri="{9D8B030D-6E8A-4147-A177-3AD203B41FA5}">
                      <a16:colId xmlns:a16="http://schemas.microsoft.com/office/drawing/2014/main" val="3028793142"/>
                    </a:ext>
                  </a:extLst>
                </a:gridCol>
                <a:gridCol w="1646952">
                  <a:extLst>
                    <a:ext uri="{9D8B030D-6E8A-4147-A177-3AD203B41FA5}">
                      <a16:colId xmlns:a16="http://schemas.microsoft.com/office/drawing/2014/main" val="965095021"/>
                    </a:ext>
                  </a:extLst>
                </a:gridCol>
                <a:gridCol w="1646952">
                  <a:extLst>
                    <a:ext uri="{9D8B030D-6E8A-4147-A177-3AD203B41FA5}">
                      <a16:colId xmlns:a16="http://schemas.microsoft.com/office/drawing/2014/main" val="1477200533"/>
                    </a:ext>
                  </a:extLst>
                </a:gridCol>
                <a:gridCol w="1646952">
                  <a:extLst>
                    <a:ext uri="{9D8B030D-6E8A-4147-A177-3AD203B41FA5}">
                      <a16:colId xmlns:a16="http://schemas.microsoft.com/office/drawing/2014/main" val="2245126433"/>
                    </a:ext>
                  </a:extLst>
                </a:gridCol>
              </a:tblGrid>
              <a:tr h="49084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ＭＳ Ｐゴシック" panose="020B0600070205080204" pitchFamily="50" charset="-128"/>
                          <a:ea typeface="+mn-ea"/>
                          <a:cs typeface="+mn-cs"/>
                        </a:rPr>
                        <a:t>5/20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ＭＳ Ｐゴシック" panose="020B0600070205080204" pitchFamily="50" charset="-128"/>
                          <a:ea typeface="+mn-ea"/>
                          <a:cs typeface="+mn-cs"/>
                        </a:rPr>
                        <a:t>5/21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ＭＳ Ｐゴシック" panose="020B0600070205080204" pitchFamily="50" charset="-128"/>
                          <a:ea typeface="+mn-ea"/>
                          <a:cs typeface="+mn-cs"/>
                        </a:rPr>
                        <a:t>5/22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+mn-cs"/>
                        </a:rPr>
                        <a:t>5/25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+mn-cs"/>
                        </a:rPr>
                        <a:t>5/26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+mn-cs"/>
                        </a:rPr>
                        <a:t>5/27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+mn-cs"/>
                        </a:rPr>
                        <a:t>5/28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6351029"/>
                  </a:ext>
                </a:extLst>
              </a:tr>
              <a:tr h="1573730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800" dirty="0"/>
                        <a:t>・テーブル</a:t>
                      </a:r>
                      <a:endParaRPr kumimoji="1" lang="en-US" altLang="ja-JP" sz="1800" dirty="0"/>
                    </a:p>
                    <a:p>
                      <a:pPr algn="l"/>
                      <a:r>
                        <a:rPr kumimoji="1" lang="ja-JP" altLang="en-US" sz="1800" dirty="0"/>
                        <a:t>　定義書</a:t>
                      </a:r>
                      <a:endParaRPr kumimoji="1" lang="en-US" altLang="ja-JP" sz="1800" dirty="0"/>
                    </a:p>
                    <a:p>
                      <a:pPr algn="l"/>
                      <a:r>
                        <a:rPr kumimoji="1" lang="ja-JP" altLang="en-US" sz="1800" dirty="0"/>
                        <a:t>・</a:t>
                      </a:r>
                      <a:r>
                        <a:rPr kumimoji="1" lang="en-US" altLang="ja-JP" sz="1800" dirty="0"/>
                        <a:t>ER</a:t>
                      </a:r>
                      <a:r>
                        <a:rPr kumimoji="1" lang="ja-JP" altLang="en-US" sz="1800" dirty="0"/>
                        <a:t>図作成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dirty="0"/>
                        <a:t>・クラス図作成</a:t>
                      </a:r>
                      <a:endParaRPr kumimoji="1" lang="en-US" altLang="ja-JP" dirty="0"/>
                    </a:p>
                    <a:p>
                      <a:pPr algn="l"/>
                      <a:r>
                        <a:rPr kumimoji="1" lang="ja-JP" altLang="en-US" dirty="0"/>
                        <a:t>・</a:t>
                      </a:r>
                      <a:r>
                        <a:rPr kumimoji="1" lang="en-US" altLang="ja-JP" dirty="0"/>
                        <a:t>GitHub</a:t>
                      </a:r>
                    </a:p>
                    <a:p>
                      <a:pPr algn="l"/>
                      <a:r>
                        <a:rPr kumimoji="1" lang="ja-JP" altLang="en-US" dirty="0"/>
                        <a:t>・シーケンス図</a:t>
                      </a:r>
                      <a:endParaRPr kumimoji="1" lang="en-US" altLang="ja-JP" dirty="0"/>
                    </a:p>
                    <a:p>
                      <a:pPr algn="l"/>
                      <a:r>
                        <a:rPr kumimoji="1" lang="ja-JP" altLang="en-US" dirty="0"/>
                        <a:t>　テストケース</a:t>
                      </a:r>
                      <a:endParaRPr kumimoji="1" lang="en-US" altLang="ja-JP" dirty="0"/>
                    </a:p>
                    <a:p>
                      <a:pPr algn="l"/>
                      <a:r>
                        <a:rPr kumimoji="1" lang="ja-JP" altLang="en-US" dirty="0"/>
                        <a:t>　作成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dirty="0"/>
                        <a:t>・シーケンス図</a:t>
                      </a:r>
                      <a:endParaRPr kumimoji="1" lang="en-US" altLang="ja-JP" dirty="0"/>
                    </a:p>
                    <a:p>
                      <a:pPr algn="l"/>
                      <a:r>
                        <a:rPr kumimoji="1" lang="ja-JP" altLang="en-US" dirty="0"/>
                        <a:t>　テストケース</a:t>
                      </a:r>
                      <a:endParaRPr kumimoji="1" lang="en-US" altLang="ja-JP" dirty="0"/>
                    </a:p>
                    <a:p>
                      <a:pPr algn="l"/>
                      <a:r>
                        <a:rPr kumimoji="1" lang="ja-JP" altLang="en-US" dirty="0"/>
                        <a:t>　作成</a:t>
                      </a:r>
                      <a:endParaRPr kumimoji="1" lang="en-US" altLang="ja-JP" dirty="0"/>
                    </a:p>
                    <a:p>
                      <a:pPr algn="l"/>
                      <a:r>
                        <a:rPr kumimoji="1" lang="ja-JP" altLang="en-US" dirty="0"/>
                        <a:t>・部門一覧</a:t>
                      </a:r>
                      <a:endParaRPr kumimoji="1" lang="en-US" altLang="ja-JP" dirty="0"/>
                    </a:p>
                    <a:p>
                      <a:pPr algn="l"/>
                      <a:r>
                        <a:rPr kumimoji="1" lang="ja-JP" altLang="en-US" dirty="0"/>
                        <a:t>　登録実装</a:t>
                      </a:r>
                      <a:endParaRPr kumimoji="1" lang="en-US" altLang="ja-JP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dirty="0"/>
                        <a:t>・部門一覧</a:t>
                      </a:r>
                      <a:endParaRPr kumimoji="1" lang="en-US" altLang="ja-JP" dirty="0"/>
                    </a:p>
                    <a:p>
                      <a:pPr algn="l"/>
                      <a:r>
                        <a:rPr kumimoji="1" lang="ja-JP" altLang="en-US" dirty="0"/>
                        <a:t>　登録実装</a:t>
                      </a:r>
                      <a:endParaRPr kumimoji="1" lang="en-US" altLang="ja-JP" dirty="0"/>
                    </a:p>
                    <a:p>
                      <a:pPr algn="l"/>
                      <a:r>
                        <a:rPr kumimoji="1" lang="ja-JP" altLang="en-US" dirty="0"/>
                        <a:t>　　　＆</a:t>
                      </a:r>
                      <a:endParaRPr kumimoji="1" lang="en-US" altLang="ja-JP" dirty="0"/>
                    </a:p>
                    <a:p>
                      <a:pPr algn="l"/>
                      <a:r>
                        <a:rPr kumimoji="1" lang="ja-JP" altLang="en-US" dirty="0"/>
                        <a:t>　　テスト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dirty="0"/>
                        <a:t>・社員一覧</a:t>
                      </a:r>
                      <a:endParaRPr kumimoji="1" lang="en-US" altLang="ja-JP" dirty="0"/>
                    </a:p>
                    <a:p>
                      <a:pPr algn="l"/>
                      <a:r>
                        <a:rPr kumimoji="1" lang="ja-JP" altLang="en-US" dirty="0"/>
                        <a:t>　表示実装</a:t>
                      </a:r>
                      <a:endParaRPr kumimoji="1" lang="en-US" altLang="ja-JP" dirty="0"/>
                    </a:p>
                    <a:p>
                      <a:pPr algn="l"/>
                      <a:r>
                        <a:rPr kumimoji="1" lang="ja-JP" altLang="en-US" dirty="0"/>
                        <a:t>　　　＆</a:t>
                      </a:r>
                      <a:endParaRPr kumimoji="1" lang="en-US" altLang="ja-JP" dirty="0"/>
                    </a:p>
                    <a:p>
                      <a:pPr algn="l"/>
                      <a:r>
                        <a:rPr kumimoji="1" lang="ja-JP" altLang="en-US" dirty="0"/>
                        <a:t>　　テスト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dirty="0"/>
                        <a:t>・社員登録</a:t>
                      </a:r>
                      <a:endParaRPr kumimoji="1" lang="en-US" altLang="ja-JP" dirty="0"/>
                    </a:p>
                    <a:p>
                      <a:pPr algn="l"/>
                      <a:r>
                        <a:rPr kumimoji="1" lang="ja-JP" altLang="en-US" dirty="0"/>
                        <a:t>　実装</a:t>
                      </a:r>
                      <a:endParaRPr kumimoji="1" lang="en-US" altLang="ja-JP" dirty="0"/>
                    </a:p>
                    <a:p>
                      <a:pPr algn="l"/>
                      <a:r>
                        <a:rPr kumimoji="1" lang="ja-JP" altLang="en-US" dirty="0"/>
                        <a:t>　　　＆</a:t>
                      </a:r>
                      <a:endParaRPr kumimoji="1" lang="en-US" altLang="ja-JP" dirty="0"/>
                    </a:p>
                    <a:p>
                      <a:pPr algn="l"/>
                      <a:r>
                        <a:rPr kumimoji="1" lang="ja-JP" altLang="en-US" dirty="0"/>
                        <a:t>　　テスト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dirty="0"/>
                        <a:t>・発表資料</a:t>
                      </a:r>
                      <a:endParaRPr kumimoji="1" lang="en-US" altLang="ja-JP" dirty="0"/>
                    </a:p>
                    <a:p>
                      <a:pPr algn="l"/>
                      <a:r>
                        <a:rPr kumimoji="1" lang="ja-JP" altLang="en-US" dirty="0"/>
                        <a:t>　作成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6558756"/>
                  </a:ext>
                </a:extLst>
              </a:tr>
            </a:tbl>
          </a:graphicData>
        </a:graphic>
      </p:graphicFrame>
      <p:sp>
        <p:nvSpPr>
          <p:cNvPr id="10" name="タイトル 1">
            <a:extLst>
              <a:ext uri="{FF2B5EF4-FFF2-40B4-BE49-F238E27FC236}">
                <a16:creationId xmlns:a16="http://schemas.microsoft.com/office/drawing/2014/main" id="{0AB0E619-7A27-F80E-6C00-754AED7490D2}"/>
              </a:ext>
            </a:extLst>
          </p:cNvPr>
          <p:cNvSpPr txBox="1">
            <a:spLocks/>
          </p:cNvSpPr>
          <p:nvPr/>
        </p:nvSpPr>
        <p:spPr>
          <a:xfrm>
            <a:off x="8300357" y="1038907"/>
            <a:ext cx="3325585" cy="64885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kumimoji="1"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3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最初の目標、予定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DF8DDD8-5A8E-1306-D744-A022AB47F701}"/>
              </a:ext>
            </a:extLst>
          </p:cNvPr>
          <p:cNvSpPr txBox="1"/>
          <p:nvPr/>
        </p:nvSpPr>
        <p:spPr>
          <a:xfrm>
            <a:off x="1687286" y="1914866"/>
            <a:ext cx="34943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3200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ea"/>
              </a:rPr>
              <a:t>目標：４機能完成</a:t>
            </a:r>
            <a:endParaRPr lang="ja-JP" altLang="en-US" sz="32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2609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FFF2E-3FC2-90CE-B0D4-B7D8C2070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80F9282A-E65C-B906-9679-8CF52A1E1C75}"/>
              </a:ext>
            </a:extLst>
          </p:cNvPr>
          <p:cNvSpPr/>
          <p:nvPr/>
        </p:nvSpPr>
        <p:spPr>
          <a:xfrm>
            <a:off x="1589315" y="1914867"/>
            <a:ext cx="9013372" cy="1416164"/>
          </a:xfrm>
          <a:prstGeom prst="rect">
            <a:avLst/>
          </a:prstGeom>
          <a:noFill/>
          <a:ln w="38100">
            <a:solidFill>
              <a:schemeClr val="accent1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0C321A7-AAF5-3A02-B968-F3A3938E0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058" y="856760"/>
            <a:ext cx="6052456" cy="830997"/>
          </a:xfrm>
        </p:spPr>
        <p:txBody>
          <a:bodyPr>
            <a:normAutofit fontScale="90000"/>
          </a:bodyPr>
          <a:lstStyle/>
          <a:p>
            <a:r>
              <a:rPr kumimoji="1" lang="ja-JP" altLang="en-US" dirty="0"/>
              <a:t>開発スケジュールの報告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D6FAB35-5A88-7DD1-30D9-9DF6A463CD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2286" y="2451640"/>
            <a:ext cx="3690257" cy="723295"/>
          </a:xfrm>
        </p:spPr>
        <p:txBody>
          <a:bodyPr>
            <a:noAutofit/>
          </a:bodyPr>
          <a:lstStyle/>
          <a:p>
            <a:r>
              <a:rPr lang="ja-JP" altLang="en-US" sz="2800" dirty="0">
                <a:latin typeface="+mn-ea"/>
              </a:rPr>
              <a:t>社員情報管理システム</a:t>
            </a:r>
            <a:endParaRPr lang="en-US" altLang="ja-JP" sz="2800" dirty="0">
              <a:latin typeface="+mn-ea"/>
            </a:endParaRPr>
          </a:p>
        </p:txBody>
      </p:sp>
      <p:sp>
        <p:nvSpPr>
          <p:cNvPr id="5" name="スライド番号プレースホルダー 7">
            <a:extLst>
              <a:ext uri="{FF2B5EF4-FFF2-40B4-BE49-F238E27FC236}">
                <a16:creationId xmlns:a16="http://schemas.microsoft.com/office/drawing/2014/main" id="{B262AE01-6DF2-AC4C-3EF8-595BBD9A721C}"/>
              </a:ext>
            </a:extLst>
          </p:cNvPr>
          <p:cNvSpPr txBox="1">
            <a:spLocks/>
          </p:cNvSpPr>
          <p:nvPr/>
        </p:nvSpPr>
        <p:spPr>
          <a:xfrm>
            <a:off x="10499667" y="6422937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837E92-EED2-47AB-AC31-355EF2C00DF5}" type="slidenum">
              <a:rPr kumimoji="1" lang="ja-JP" altLang="en-US" sz="2000" smtClean="0"/>
              <a:pPr/>
              <a:t>4</a:t>
            </a:fld>
            <a:endParaRPr kumimoji="1" lang="ja-JP" altLang="en-US" sz="20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3FA49C5-6FFD-0683-BB69-E83552F10435}"/>
              </a:ext>
            </a:extLst>
          </p:cNvPr>
          <p:cNvSpPr txBox="1"/>
          <p:nvPr/>
        </p:nvSpPr>
        <p:spPr>
          <a:xfrm>
            <a:off x="7108373" y="2363051"/>
            <a:ext cx="440871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2400" dirty="0">
                <a:latin typeface="+mn-ea"/>
              </a:rPr>
              <a:t>・社員登録　</a:t>
            </a:r>
            <a:endParaRPr kumimoji="1" lang="en-US" altLang="ja-JP" sz="2400" dirty="0">
              <a:latin typeface="+mn-ea"/>
            </a:endParaRPr>
          </a:p>
          <a:p>
            <a:r>
              <a:rPr lang="ja-JP" altLang="en-US" sz="2400" dirty="0">
                <a:latin typeface="+mn-ea"/>
              </a:rPr>
              <a:t>・部門登録</a:t>
            </a:r>
            <a:endParaRPr lang="ja-JP" altLang="en-US" sz="2400" dirty="0"/>
          </a:p>
        </p:txBody>
      </p:sp>
      <p:graphicFrame>
        <p:nvGraphicFramePr>
          <p:cNvPr id="9" name="表 8">
            <a:extLst>
              <a:ext uri="{FF2B5EF4-FFF2-40B4-BE49-F238E27FC236}">
                <a16:creationId xmlns:a16="http://schemas.microsoft.com/office/drawing/2014/main" id="{78A89940-0A55-1B70-2A5A-D9940352FC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1026767"/>
              </p:ext>
            </p:extLst>
          </p:nvPr>
        </p:nvGraphicFramePr>
        <p:xfrm>
          <a:off x="283028" y="3526969"/>
          <a:ext cx="11767455" cy="219456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681065">
                  <a:extLst>
                    <a:ext uri="{9D8B030D-6E8A-4147-A177-3AD203B41FA5}">
                      <a16:colId xmlns:a16="http://schemas.microsoft.com/office/drawing/2014/main" val="2797956717"/>
                    </a:ext>
                  </a:extLst>
                </a:gridCol>
                <a:gridCol w="1681065">
                  <a:extLst>
                    <a:ext uri="{9D8B030D-6E8A-4147-A177-3AD203B41FA5}">
                      <a16:colId xmlns:a16="http://schemas.microsoft.com/office/drawing/2014/main" val="1604547368"/>
                    </a:ext>
                  </a:extLst>
                </a:gridCol>
                <a:gridCol w="1681065">
                  <a:extLst>
                    <a:ext uri="{9D8B030D-6E8A-4147-A177-3AD203B41FA5}">
                      <a16:colId xmlns:a16="http://schemas.microsoft.com/office/drawing/2014/main" val="3336834589"/>
                    </a:ext>
                  </a:extLst>
                </a:gridCol>
                <a:gridCol w="1681065">
                  <a:extLst>
                    <a:ext uri="{9D8B030D-6E8A-4147-A177-3AD203B41FA5}">
                      <a16:colId xmlns:a16="http://schemas.microsoft.com/office/drawing/2014/main" val="3028793142"/>
                    </a:ext>
                  </a:extLst>
                </a:gridCol>
                <a:gridCol w="1681065">
                  <a:extLst>
                    <a:ext uri="{9D8B030D-6E8A-4147-A177-3AD203B41FA5}">
                      <a16:colId xmlns:a16="http://schemas.microsoft.com/office/drawing/2014/main" val="965095021"/>
                    </a:ext>
                  </a:extLst>
                </a:gridCol>
                <a:gridCol w="1681065">
                  <a:extLst>
                    <a:ext uri="{9D8B030D-6E8A-4147-A177-3AD203B41FA5}">
                      <a16:colId xmlns:a16="http://schemas.microsoft.com/office/drawing/2014/main" val="1477200533"/>
                    </a:ext>
                  </a:extLst>
                </a:gridCol>
                <a:gridCol w="1681065">
                  <a:extLst>
                    <a:ext uri="{9D8B030D-6E8A-4147-A177-3AD203B41FA5}">
                      <a16:colId xmlns:a16="http://schemas.microsoft.com/office/drawing/2014/main" val="2245126433"/>
                    </a:ext>
                  </a:extLst>
                </a:gridCol>
              </a:tblGrid>
              <a:tr h="45604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ＭＳ Ｐゴシック" panose="020B0600070205080204" pitchFamily="50" charset="-128"/>
                          <a:ea typeface="+mn-ea"/>
                          <a:cs typeface="+mn-cs"/>
                        </a:rPr>
                        <a:t>5/20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ＭＳ Ｐゴシック" panose="020B0600070205080204" pitchFamily="50" charset="-128"/>
                          <a:ea typeface="+mn-ea"/>
                          <a:cs typeface="+mn-cs"/>
                        </a:rPr>
                        <a:t>5/21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ＭＳ Ｐゴシック" panose="020B0600070205080204" pitchFamily="50" charset="-128"/>
                          <a:ea typeface="+mn-ea"/>
                          <a:cs typeface="+mn-cs"/>
                        </a:rPr>
                        <a:t>5/22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+mn-cs"/>
                        </a:rPr>
                        <a:t>5/25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+mn-cs"/>
                        </a:rPr>
                        <a:t>5/26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+mn-cs"/>
                        </a:rPr>
                        <a:t>5/27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+mn-cs"/>
                        </a:rPr>
                        <a:t>5/28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6351029"/>
                  </a:ext>
                </a:extLst>
              </a:tr>
              <a:tr h="1608534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800" dirty="0"/>
                        <a:t>・テーブル</a:t>
                      </a:r>
                      <a:endParaRPr kumimoji="1" lang="en-US" altLang="ja-JP" sz="1800" dirty="0"/>
                    </a:p>
                    <a:p>
                      <a:pPr algn="l"/>
                      <a:r>
                        <a:rPr kumimoji="1" lang="ja-JP" altLang="en-US" sz="1800" dirty="0"/>
                        <a:t>　定義書　　</a:t>
                      </a:r>
                      <a:endParaRPr kumimoji="1" lang="en-US" altLang="ja-JP" sz="1800" dirty="0"/>
                    </a:p>
                    <a:p>
                      <a:pPr algn="l"/>
                      <a:r>
                        <a:rPr kumimoji="1" lang="ja-JP" altLang="en-US" sz="1800" dirty="0"/>
                        <a:t>　</a:t>
                      </a:r>
                      <a:r>
                        <a:rPr kumimoji="1" lang="en-US" altLang="ja-JP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ER</a:t>
                      </a:r>
                      <a:r>
                        <a:rPr kumimoji="1" lang="ja-JP" alt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図作成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dirty="0"/>
                        <a:t>・クラス図作成</a:t>
                      </a:r>
                      <a:endParaRPr kumimoji="1" lang="en-US" altLang="ja-JP" dirty="0"/>
                    </a:p>
                    <a:p>
                      <a:pPr algn="l"/>
                      <a:r>
                        <a:rPr kumimoji="1" lang="ja-JP" altLang="en-US" dirty="0"/>
                        <a:t>・</a:t>
                      </a:r>
                      <a:r>
                        <a:rPr kumimoji="1" lang="en-US" altLang="ja-JP" dirty="0"/>
                        <a:t>GitHub</a:t>
                      </a:r>
                    </a:p>
                    <a:p>
                      <a:pPr algn="l"/>
                      <a:r>
                        <a:rPr kumimoji="1" lang="ja-JP" altLang="en-US" dirty="0"/>
                        <a:t>・テストケース</a:t>
                      </a:r>
                      <a:endParaRPr kumimoji="1" lang="en-US" altLang="ja-JP" dirty="0"/>
                    </a:p>
                    <a:p>
                      <a:pPr algn="l"/>
                      <a:r>
                        <a:rPr kumimoji="1" lang="ja-JP" altLang="en-US" dirty="0"/>
                        <a:t>　シーケンス図</a:t>
                      </a:r>
                      <a:endParaRPr kumimoji="1" lang="en-US" altLang="ja-JP" dirty="0"/>
                    </a:p>
                    <a:p>
                      <a:pPr algn="l"/>
                      <a:r>
                        <a:rPr kumimoji="1" lang="ja-JP" altLang="en-US" dirty="0"/>
                        <a:t>　理解</a:t>
                      </a:r>
                      <a:endParaRPr kumimoji="1" lang="en-US" altLang="ja-JP" dirty="0"/>
                    </a:p>
                    <a:p>
                      <a:pPr algn="l"/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dirty="0"/>
                        <a:t>（社員登録）</a:t>
                      </a:r>
                      <a:endParaRPr kumimoji="1" lang="en-US" altLang="ja-JP" dirty="0"/>
                    </a:p>
                    <a:p>
                      <a:pPr algn="l"/>
                      <a:r>
                        <a:rPr kumimoji="1" lang="ja-JP" altLang="en-US" dirty="0"/>
                        <a:t>・実装</a:t>
                      </a:r>
                      <a:endParaRPr kumimoji="1" lang="en-US" altLang="ja-JP" dirty="0"/>
                    </a:p>
                    <a:p>
                      <a:pPr algn="l"/>
                      <a:r>
                        <a:rPr kumimoji="1" lang="ja-JP" altLang="en-US" dirty="0"/>
                        <a:t>・テストケース</a:t>
                      </a:r>
                      <a:endParaRPr kumimoji="1" lang="en-US" altLang="ja-JP" dirty="0"/>
                    </a:p>
                    <a:p>
                      <a:pPr algn="l"/>
                      <a:r>
                        <a:rPr kumimoji="1" lang="ja-JP" altLang="en-US" dirty="0"/>
                        <a:t>　作成</a:t>
                      </a:r>
                    </a:p>
                    <a:p>
                      <a:pPr algn="l"/>
                      <a:r>
                        <a:rPr kumimoji="1" lang="ja-JP" altLang="en-US" dirty="0"/>
                        <a:t>・クラス図作成</a:t>
                      </a:r>
                      <a:endParaRPr kumimoji="1" lang="en-US" altLang="ja-JP" dirty="0"/>
                    </a:p>
                    <a:p>
                      <a:pPr algn="l"/>
                      <a:r>
                        <a:rPr kumimoji="1" lang="ja-JP" altLang="en-US" dirty="0"/>
                        <a:t>　</a:t>
                      </a:r>
                      <a:endParaRPr kumimoji="1" lang="en-US" altLang="ja-JP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dirty="0"/>
                        <a:t>（社員登録）</a:t>
                      </a:r>
                      <a:endParaRPr kumimoji="1" lang="en-US" altLang="ja-JP" dirty="0"/>
                    </a:p>
                    <a:p>
                      <a:pPr algn="l"/>
                      <a:r>
                        <a:rPr kumimoji="1" lang="ja-JP" altLang="en-US" dirty="0"/>
                        <a:t>・テストケース</a:t>
                      </a:r>
                      <a:endParaRPr kumimoji="1" lang="en-US" altLang="ja-JP" dirty="0"/>
                    </a:p>
                    <a:p>
                      <a:pPr algn="l"/>
                      <a:r>
                        <a:rPr kumimoji="1" lang="ja-JP" altLang="en-US" dirty="0"/>
                        <a:t>　作成</a:t>
                      </a:r>
                    </a:p>
                    <a:p>
                      <a:pPr algn="l"/>
                      <a:r>
                        <a:rPr kumimoji="1" lang="ja-JP" altLang="en-US" dirty="0"/>
                        <a:t>・クラス図完成</a:t>
                      </a:r>
                      <a:endParaRPr kumimoji="1" lang="en-US" altLang="ja-JP" dirty="0"/>
                    </a:p>
                    <a:p>
                      <a:pPr algn="l"/>
                      <a:r>
                        <a:rPr kumimoji="1" lang="ja-JP" altLang="en-US" dirty="0"/>
                        <a:t>　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dirty="0"/>
                        <a:t>・部門登録実装</a:t>
                      </a:r>
                      <a:endParaRPr kumimoji="1" lang="en-US" altLang="ja-JP" dirty="0"/>
                    </a:p>
                    <a:p>
                      <a:pPr algn="l"/>
                      <a:r>
                        <a:rPr kumimoji="1" lang="ja-JP" altLang="en-US" dirty="0"/>
                        <a:t>・社員登録</a:t>
                      </a:r>
                      <a:endParaRPr kumimoji="1" lang="en-US" altLang="ja-JP" dirty="0"/>
                    </a:p>
                    <a:p>
                      <a:pPr algn="l"/>
                      <a:r>
                        <a:rPr kumimoji="1" lang="ja-JP" altLang="en-US" dirty="0"/>
                        <a:t>　テスト完了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dirty="0"/>
                        <a:t>(</a:t>
                      </a:r>
                      <a:r>
                        <a:rPr kumimoji="1" lang="ja-JP" altLang="en-US" dirty="0"/>
                        <a:t>部門登録</a:t>
                      </a:r>
                      <a:r>
                        <a:rPr kumimoji="1" lang="en-US" altLang="ja-JP" dirty="0"/>
                        <a:t>)</a:t>
                      </a:r>
                    </a:p>
                    <a:p>
                      <a:pPr algn="l"/>
                      <a:r>
                        <a:rPr kumimoji="1" lang="ja-JP" altLang="en-US" dirty="0"/>
                        <a:t>・実装</a:t>
                      </a:r>
                      <a:endParaRPr kumimoji="1" lang="en-US" altLang="ja-JP" dirty="0"/>
                    </a:p>
                    <a:p>
                      <a:pPr algn="l"/>
                      <a:r>
                        <a:rPr kumimoji="1" lang="ja-JP" altLang="en-US" dirty="0"/>
                        <a:t>・テストケース</a:t>
                      </a:r>
                      <a:endParaRPr kumimoji="1" lang="en-US" altLang="ja-JP" dirty="0"/>
                    </a:p>
                    <a:p>
                      <a:pPr algn="l"/>
                      <a:r>
                        <a:rPr kumimoji="1" lang="ja-JP" altLang="en-US" dirty="0"/>
                        <a:t>　作成</a:t>
                      </a:r>
                    </a:p>
                    <a:p>
                      <a:pPr algn="l"/>
                      <a:r>
                        <a:rPr kumimoji="1" lang="ja-JP" altLang="en-US" dirty="0"/>
                        <a:t>・クラス図作成</a:t>
                      </a:r>
                    </a:p>
                    <a:p>
                      <a:pPr algn="l"/>
                      <a:endParaRPr kumimoji="1" lang="en-US" altLang="ja-JP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dirty="0"/>
                        <a:t>発表資料作成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6558756"/>
                  </a:ext>
                </a:extLst>
              </a:tr>
            </a:tbl>
          </a:graphicData>
        </a:graphic>
      </p:graphicFrame>
      <p:sp>
        <p:nvSpPr>
          <p:cNvPr id="10" name="タイトル 1">
            <a:extLst>
              <a:ext uri="{FF2B5EF4-FFF2-40B4-BE49-F238E27FC236}">
                <a16:creationId xmlns:a16="http://schemas.microsoft.com/office/drawing/2014/main" id="{FD8D5C6C-F106-F5BC-E5E9-74C23643C6C3}"/>
              </a:ext>
            </a:extLst>
          </p:cNvPr>
          <p:cNvSpPr txBox="1">
            <a:spLocks/>
          </p:cNvSpPr>
          <p:nvPr/>
        </p:nvSpPr>
        <p:spPr>
          <a:xfrm>
            <a:off x="8991600" y="1038907"/>
            <a:ext cx="2296885" cy="6488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kumimoji="1"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3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実際の進捗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B2FA539-5FF1-6E54-8580-24C3C5041CDD}"/>
              </a:ext>
            </a:extLst>
          </p:cNvPr>
          <p:cNvSpPr txBox="1"/>
          <p:nvPr/>
        </p:nvSpPr>
        <p:spPr>
          <a:xfrm>
            <a:off x="1687286" y="1914866"/>
            <a:ext cx="34943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3200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ea"/>
              </a:rPr>
              <a:t>２機能完成</a:t>
            </a:r>
            <a:endParaRPr lang="ja-JP" altLang="en-US" sz="32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344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EC3CD-ED2F-5550-FE93-3AE3AFB4E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81FD92CC-BFD2-9E48-6F98-C7AD6EA5B3D5}"/>
              </a:ext>
            </a:extLst>
          </p:cNvPr>
          <p:cNvSpPr/>
          <p:nvPr/>
        </p:nvSpPr>
        <p:spPr>
          <a:xfrm>
            <a:off x="1464129" y="3572099"/>
            <a:ext cx="9263741" cy="1832077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7D5A6708-D212-AF93-5DE2-0149E22EC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058" y="856760"/>
            <a:ext cx="6052456" cy="830997"/>
          </a:xfrm>
        </p:spPr>
        <p:txBody>
          <a:bodyPr>
            <a:normAutofit/>
          </a:bodyPr>
          <a:lstStyle/>
          <a:p>
            <a:r>
              <a:rPr lang="ja-JP" altLang="en-US" dirty="0"/>
              <a:t>成果物の概要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FF38164-1F64-FC37-DD57-D95155907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1234" y="2705897"/>
            <a:ext cx="3516085" cy="648851"/>
          </a:xfrm>
          <a:solidFill>
            <a:schemeClr val="accent2">
              <a:lumMod val="40000"/>
              <a:lumOff val="6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ja-JP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社員情報管理システム</a:t>
            </a:r>
            <a:endParaRPr lang="en-US" altLang="ja-JP" sz="28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5" name="スライド番号プレースホルダー 7">
            <a:extLst>
              <a:ext uri="{FF2B5EF4-FFF2-40B4-BE49-F238E27FC236}">
                <a16:creationId xmlns:a16="http://schemas.microsoft.com/office/drawing/2014/main" id="{301BC48C-9C1C-CACE-C3A8-273787600607}"/>
              </a:ext>
            </a:extLst>
          </p:cNvPr>
          <p:cNvSpPr txBox="1">
            <a:spLocks/>
          </p:cNvSpPr>
          <p:nvPr/>
        </p:nvSpPr>
        <p:spPr>
          <a:xfrm>
            <a:off x="10499667" y="6422937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837E92-EED2-47AB-AC31-355EF2C00DF5}" type="slidenum">
              <a:rPr kumimoji="1" lang="ja-JP" altLang="en-US" sz="2000" smtClean="0"/>
              <a:pPr/>
              <a:t>5</a:t>
            </a:fld>
            <a:endParaRPr kumimoji="1" lang="ja-JP" altLang="en-US" sz="2000" dirty="0"/>
          </a:p>
        </p:txBody>
      </p:sp>
      <p:sp>
        <p:nvSpPr>
          <p:cNvPr id="10" name="タイトル 1">
            <a:extLst>
              <a:ext uri="{FF2B5EF4-FFF2-40B4-BE49-F238E27FC236}">
                <a16:creationId xmlns:a16="http://schemas.microsoft.com/office/drawing/2014/main" id="{2834E2DA-2F7B-E48C-F224-FE04D7584736}"/>
              </a:ext>
            </a:extLst>
          </p:cNvPr>
          <p:cNvSpPr txBox="1">
            <a:spLocks/>
          </p:cNvSpPr>
          <p:nvPr/>
        </p:nvSpPr>
        <p:spPr>
          <a:xfrm>
            <a:off x="9323615" y="1038907"/>
            <a:ext cx="2008414" cy="64885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kumimoji="1"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ja-JP" altLang="en-US" sz="32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コンテンツ プレースホルダー 2">
            <a:extLst>
              <a:ext uri="{FF2B5EF4-FFF2-40B4-BE49-F238E27FC236}">
                <a16:creationId xmlns:a16="http://schemas.microsoft.com/office/drawing/2014/main" id="{422C700B-EC20-EF13-ECDB-53414280A87D}"/>
              </a:ext>
            </a:extLst>
          </p:cNvPr>
          <p:cNvSpPr txBox="1">
            <a:spLocks/>
          </p:cNvSpPr>
          <p:nvPr/>
        </p:nvSpPr>
        <p:spPr>
          <a:xfrm>
            <a:off x="1635029" y="3572099"/>
            <a:ext cx="1502228" cy="648851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ja-JP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機能概要</a:t>
            </a:r>
            <a:endParaRPr lang="en-US" altLang="ja-JP" sz="28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0C7DAE5D-426D-E4D1-D204-9ADDA095758A}"/>
              </a:ext>
            </a:extLst>
          </p:cNvPr>
          <p:cNvSpPr txBox="1">
            <a:spLocks/>
          </p:cNvSpPr>
          <p:nvPr/>
        </p:nvSpPr>
        <p:spPr>
          <a:xfrm>
            <a:off x="3592286" y="3956822"/>
            <a:ext cx="1859286" cy="648851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ja-JP" altLang="en-US" sz="2800" dirty="0">
                <a:latin typeface="+mn-ea"/>
              </a:rPr>
              <a:t>〇</a:t>
            </a:r>
            <a:r>
              <a:rPr lang="ja-JP" altLang="en-US" sz="2800" b="1" dirty="0">
                <a:latin typeface="+mn-ea"/>
              </a:rPr>
              <a:t>部門登録</a:t>
            </a:r>
            <a:endParaRPr lang="en-US" altLang="ja-JP" sz="2800" b="1" dirty="0">
              <a:latin typeface="+mn-ea"/>
            </a:endParaRPr>
          </a:p>
        </p:txBody>
      </p:sp>
      <p:sp>
        <p:nvSpPr>
          <p:cNvPr id="8" name="コンテンツ プレースホルダー 2">
            <a:extLst>
              <a:ext uri="{FF2B5EF4-FFF2-40B4-BE49-F238E27FC236}">
                <a16:creationId xmlns:a16="http://schemas.microsoft.com/office/drawing/2014/main" id="{53C6E3DA-2B8D-A04D-886E-C95BFDECDE82}"/>
              </a:ext>
            </a:extLst>
          </p:cNvPr>
          <p:cNvSpPr txBox="1">
            <a:spLocks/>
          </p:cNvSpPr>
          <p:nvPr/>
        </p:nvSpPr>
        <p:spPr>
          <a:xfrm>
            <a:off x="3592287" y="4637979"/>
            <a:ext cx="1859285" cy="648851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ja-JP" altLang="en-US" sz="2800" dirty="0">
                <a:latin typeface="+mn-ea"/>
              </a:rPr>
              <a:t>〇</a:t>
            </a:r>
            <a:r>
              <a:rPr lang="ja-JP" altLang="en-US" sz="2800" b="1" dirty="0">
                <a:latin typeface="+mn-ea"/>
              </a:rPr>
              <a:t>社員登録</a:t>
            </a:r>
            <a:endParaRPr lang="en-US" altLang="ja-JP" sz="2800" b="1" dirty="0">
              <a:latin typeface="+mn-ea"/>
            </a:endParaRPr>
          </a:p>
        </p:txBody>
      </p:sp>
      <p:sp>
        <p:nvSpPr>
          <p:cNvPr id="11" name="コンテンツ プレースホルダー 2">
            <a:extLst>
              <a:ext uri="{FF2B5EF4-FFF2-40B4-BE49-F238E27FC236}">
                <a16:creationId xmlns:a16="http://schemas.microsoft.com/office/drawing/2014/main" id="{F68EB67E-19CA-7352-D937-A36AC8F552D4}"/>
              </a:ext>
            </a:extLst>
          </p:cNvPr>
          <p:cNvSpPr txBox="1">
            <a:spLocks/>
          </p:cNvSpPr>
          <p:nvPr/>
        </p:nvSpPr>
        <p:spPr>
          <a:xfrm>
            <a:off x="5808630" y="4605673"/>
            <a:ext cx="3178621" cy="479914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ja-JP" altLang="en-US" sz="2800" dirty="0">
                <a:latin typeface="+mn-ea"/>
              </a:rPr>
              <a:t>社員を新規登録する</a:t>
            </a:r>
            <a:endParaRPr lang="en-US" altLang="ja-JP" sz="2800" dirty="0">
              <a:latin typeface="+mn-ea"/>
            </a:endParaRPr>
          </a:p>
        </p:txBody>
      </p:sp>
      <p:sp>
        <p:nvSpPr>
          <p:cNvPr id="12" name="コンテンツ プレースホルダー 2">
            <a:extLst>
              <a:ext uri="{FF2B5EF4-FFF2-40B4-BE49-F238E27FC236}">
                <a16:creationId xmlns:a16="http://schemas.microsoft.com/office/drawing/2014/main" id="{67D50215-69DC-0389-E954-C40512F46936}"/>
              </a:ext>
            </a:extLst>
          </p:cNvPr>
          <p:cNvSpPr txBox="1">
            <a:spLocks/>
          </p:cNvSpPr>
          <p:nvPr/>
        </p:nvSpPr>
        <p:spPr>
          <a:xfrm>
            <a:off x="5808630" y="3955184"/>
            <a:ext cx="3178621" cy="479914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ja-JP" altLang="en-US" sz="2800" dirty="0">
                <a:latin typeface="+mn-ea"/>
              </a:rPr>
              <a:t>部門を新規登録する</a:t>
            </a:r>
            <a:endParaRPr lang="en-US" altLang="ja-JP" sz="2800" dirty="0">
              <a:latin typeface="+mn-ea"/>
            </a:endParaRPr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01F66070-5ABE-C9AA-74DA-4168C5B802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5900" y="2133458"/>
            <a:ext cx="1301970" cy="1438641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29814BF4-8C36-657D-D2C9-9986F8705D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7729" y="2252326"/>
            <a:ext cx="738665" cy="1358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00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8B7EB-1B7A-2DCB-26DB-9DE01DF7D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C55386-F330-7FB7-7962-7BA0AA6F0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058" y="856760"/>
            <a:ext cx="6052456" cy="830997"/>
          </a:xfrm>
        </p:spPr>
        <p:txBody>
          <a:bodyPr>
            <a:normAutofit/>
          </a:bodyPr>
          <a:lstStyle/>
          <a:p>
            <a:r>
              <a:rPr lang="ja-JP" altLang="en-US" dirty="0"/>
              <a:t>成果物の概要</a:t>
            </a:r>
            <a:endParaRPr kumimoji="1" lang="ja-JP" altLang="en-US" dirty="0"/>
          </a:p>
        </p:txBody>
      </p:sp>
      <p:sp>
        <p:nvSpPr>
          <p:cNvPr id="5" name="スライド番号プレースホルダー 7">
            <a:extLst>
              <a:ext uri="{FF2B5EF4-FFF2-40B4-BE49-F238E27FC236}">
                <a16:creationId xmlns:a16="http://schemas.microsoft.com/office/drawing/2014/main" id="{D16963C4-87E4-9AF1-1583-21194B1F75F5}"/>
              </a:ext>
            </a:extLst>
          </p:cNvPr>
          <p:cNvSpPr txBox="1">
            <a:spLocks/>
          </p:cNvSpPr>
          <p:nvPr/>
        </p:nvSpPr>
        <p:spPr>
          <a:xfrm>
            <a:off x="10499667" y="6422937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837E92-EED2-47AB-AC31-355EF2C00DF5}" type="slidenum">
              <a:rPr kumimoji="1" lang="ja-JP" altLang="en-US" sz="2000" smtClean="0"/>
              <a:pPr/>
              <a:t>6</a:t>
            </a:fld>
            <a:endParaRPr kumimoji="1" lang="ja-JP" altLang="en-US" sz="2000" dirty="0"/>
          </a:p>
        </p:txBody>
      </p:sp>
      <p:sp>
        <p:nvSpPr>
          <p:cNvPr id="10" name="タイトル 1">
            <a:extLst>
              <a:ext uri="{FF2B5EF4-FFF2-40B4-BE49-F238E27FC236}">
                <a16:creationId xmlns:a16="http://schemas.microsoft.com/office/drawing/2014/main" id="{99D77A55-3537-53E3-5665-C3D3A9A80B32}"/>
              </a:ext>
            </a:extLst>
          </p:cNvPr>
          <p:cNvSpPr txBox="1">
            <a:spLocks/>
          </p:cNvSpPr>
          <p:nvPr/>
        </p:nvSpPr>
        <p:spPr>
          <a:xfrm>
            <a:off x="9323615" y="1038907"/>
            <a:ext cx="2008414" cy="64885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kumimoji="1"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ja-JP" altLang="en-US" sz="32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CA51708C-C2AE-8D3B-7328-541F7535283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742" y="2797843"/>
            <a:ext cx="3781241" cy="2187813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3BCAFFF2-BC43-9624-ED89-994BB9DDF14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7842" y="2810130"/>
            <a:ext cx="3776947" cy="2184716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E71D6A9-6C26-6AFE-ABDA-490961A6DDB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7792" y="2781991"/>
            <a:ext cx="3781241" cy="2184717"/>
          </a:xfrm>
          <a:prstGeom prst="rect">
            <a:avLst/>
          </a:prstGeom>
        </p:spPr>
      </p:pic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0C573909-B415-9E92-77B0-12EA70852CD8}"/>
              </a:ext>
            </a:extLst>
          </p:cNvPr>
          <p:cNvSpPr txBox="1">
            <a:spLocks/>
          </p:cNvSpPr>
          <p:nvPr/>
        </p:nvSpPr>
        <p:spPr>
          <a:xfrm>
            <a:off x="397743" y="2272135"/>
            <a:ext cx="522514" cy="648851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Calibri" panose="020F0502020204030204" pitchFamily="34" charset="0"/>
              <a:buNone/>
            </a:pPr>
            <a:r>
              <a:rPr lang="ja-JP" altLang="en-US" sz="2800" dirty="0">
                <a:latin typeface="+mn-ea"/>
              </a:rPr>
              <a:t>①</a:t>
            </a:r>
            <a:endParaRPr lang="en-US" altLang="ja-JP" sz="2800" dirty="0">
              <a:latin typeface="+mn-ea"/>
            </a:endParaRPr>
          </a:p>
          <a:p>
            <a:pPr marL="0" indent="0">
              <a:buFont typeface="Calibri" panose="020F0502020204030204" pitchFamily="34" charset="0"/>
              <a:buNone/>
            </a:pPr>
            <a:endParaRPr lang="en-US" altLang="ja-JP" sz="2800" dirty="0">
              <a:latin typeface="+mn-ea"/>
            </a:endParaRPr>
          </a:p>
          <a:p>
            <a:pPr marL="0" indent="0">
              <a:buFont typeface="Calibri" panose="020F0502020204030204" pitchFamily="34" charset="0"/>
              <a:buNone/>
            </a:pPr>
            <a:endParaRPr lang="en-US" altLang="ja-JP" sz="2800" dirty="0">
              <a:latin typeface="+mn-ea"/>
            </a:endParaRPr>
          </a:p>
          <a:p>
            <a:pPr marL="0" indent="0">
              <a:buFont typeface="Calibri" panose="020F0502020204030204" pitchFamily="34" charset="0"/>
              <a:buNone/>
            </a:pPr>
            <a:endParaRPr lang="en-US" altLang="ja-JP" sz="2800" dirty="0">
              <a:latin typeface="+mn-ea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D90A3CF3-A0BF-2519-97F2-E017529C06B8}"/>
              </a:ext>
            </a:extLst>
          </p:cNvPr>
          <p:cNvSpPr txBox="1"/>
          <p:nvPr/>
        </p:nvSpPr>
        <p:spPr>
          <a:xfrm>
            <a:off x="8062044" y="2253122"/>
            <a:ext cx="5225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ja-JP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ＭＳ Ｐゴシック" panose="020B0600070205080204" pitchFamily="50" charset="-128"/>
                <a:ea typeface="ＭＳ Ｐゴシック" panose="020B0600070205080204" pitchFamily="50" charset="-128"/>
                <a:cs typeface="+mn-cs"/>
              </a:rPr>
              <a:t>③</a:t>
            </a:r>
            <a:endParaRPr lang="ja-JP" altLang="en-US" dirty="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B28BE59E-F400-B22A-965B-F7CB697D8976}"/>
              </a:ext>
            </a:extLst>
          </p:cNvPr>
          <p:cNvSpPr txBox="1"/>
          <p:nvPr/>
        </p:nvSpPr>
        <p:spPr>
          <a:xfrm>
            <a:off x="4178983" y="2258771"/>
            <a:ext cx="6243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ja-JP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ＭＳ Ｐゴシック" panose="020B0600070205080204" pitchFamily="50" charset="-128"/>
                <a:ea typeface="ＭＳ Ｐゴシック" panose="020B0600070205080204" pitchFamily="50" charset="-128"/>
                <a:cs typeface="+mn-cs"/>
              </a:rPr>
              <a:t>②</a:t>
            </a:r>
            <a:endParaRPr lang="ja-JP" altLang="en-US" dirty="0"/>
          </a:p>
        </p:txBody>
      </p:sp>
      <p:sp>
        <p:nvSpPr>
          <p:cNvPr id="24" name="タイトル 1">
            <a:extLst>
              <a:ext uri="{FF2B5EF4-FFF2-40B4-BE49-F238E27FC236}">
                <a16:creationId xmlns:a16="http://schemas.microsoft.com/office/drawing/2014/main" id="{8FA5F804-876E-BF89-3DE0-C48F2E6B24E2}"/>
              </a:ext>
            </a:extLst>
          </p:cNvPr>
          <p:cNvSpPr txBox="1">
            <a:spLocks/>
          </p:cNvSpPr>
          <p:nvPr/>
        </p:nvSpPr>
        <p:spPr>
          <a:xfrm>
            <a:off x="9198429" y="1038907"/>
            <a:ext cx="2133600" cy="64885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2500" lnSpcReduction="10000"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kumimoji="1"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3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部門登録機能</a:t>
            </a:r>
          </a:p>
        </p:txBody>
      </p:sp>
      <p:grpSp>
        <p:nvGrpSpPr>
          <p:cNvPr id="33" name="グループ化 32">
            <a:extLst>
              <a:ext uri="{FF2B5EF4-FFF2-40B4-BE49-F238E27FC236}">
                <a16:creationId xmlns:a16="http://schemas.microsoft.com/office/drawing/2014/main" id="{A196C7BB-66F0-4BD4-AA38-D145DE49D961}"/>
              </a:ext>
            </a:extLst>
          </p:cNvPr>
          <p:cNvGrpSpPr/>
          <p:nvPr/>
        </p:nvGrpSpPr>
        <p:grpSpPr>
          <a:xfrm>
            <a:off x="6867254" y="5247915"/>
            <a:ext cx="1865774" cy="1083873"/>
            <a:chOff x="6219027" y="3294960"/>
            <a:chExt cx="1865774" cy="1083873"/>
          </a:xfrm>
        </p:grpSpPr>
        <p:sp>
          <p:nvSpPr>
            <p:cNvPr id="28" name="コンテンツ プレースホルダー 2">
              <a:extLst>
                <a:ext uri="{FF2B5EF4-FFF2-40B4-BE49-F238E27FC236}">
                  <a16:creationId xmlns:a16="http://schemas.microsoft.com/office/drawing/2014/main" id="{E3F149E3-196C-FFE5-84E2-4905D1EFA15A}"/>
                </a:ext>
              </a:extLst>
            </p:cNvPr>
            <p:cNvSpPr txBox="1">
              <a:spLocks/>
            </p:cNvSpPr>
            <p:nvPr/>
          </p:nvSpPr>
          <p:spPr>
            <a:xfrm>
              <a:off x="6219027" y="3294960"/>
              <a:ext cx="1865774" cy="1083873"/>
            </a:xfrm>
            <a:prstGeom prst="ellipse">
              <a:avLst/>
            </a:prstGeom>
            <a:solidFill>
              <a:schemeClr val="accent1">
                <a:lumMod val="90000"/>
              </a:schemeClr>
            </a:solidFill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lIns="0" tIns="45720" rIns="0" bIns="45720" rtlCol="0">
              <a:noAutofit/>
            </a:bodyPr>
            <a:lstStyle>
              <a:lvl1pPr marL="91440" indent="-91440" algn="l" defTabSz="914400" rtl="0" eaLnBrk="1" latinLnBrk="0" hangingPunct="1"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kumimoji="1"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384048" indent="-18288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kumimoji="1"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566928" indent="-18288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kumimoji="1" sz="1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749808" indent="-18288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kumimoji="1" sz="1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932688" indent="-18288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kumimoji="1" sz="1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1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kumimoji="1" sz="1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3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kumimoji="1" sz="1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5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kumimoji="1" sz="1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17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kumimoji="1" sz="1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endParaRPr lang="en-US" altLang="ja-JP" sz="2800" dirty="0">
                <a:latin typeface="+mn-ea"/>
              </a:endParaRPr>
            </a:p>
          </p:txBody>
        </p:sp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95B2F826-7FB8-9B1B-DDB7-AAC25DEAF1FF}"/>
                </a:ext>
              </a:extLst>
            </p:cNvPr>
            <p:cNvSpPr txBox="1"/>
            <p:nvPr/>
          </p:nvSpPr>
          <p:spPr>
            <a:xfrm>
              <a:off x="6219027" y="3390938"/>
              <a:ext cx="1865774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ＭＳ Ｐゴシック" panose="020B0600070205080204" pitchFamily="50" charset="-128"/>
                  <a:ea typeface="ＭＳ Ｐゴシック" panose="020B0600070205080204" pitchFamily="50" charset="-128"/>
                  <a:cs typeface="+mn-cs"/>
                </a:rPr>
                <a:t>部門登録</a:t>
              </a:r>
              <a:endPara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ＭＳ Ｐゴシック" panose="020B0600070205080204" pitchFamily="50" charset="-128"/>
                <a:ea typeface="ＭＳ Ｐゴシック" panose="020B0600070205080204" pitchFamily="50" charset="-128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ＭＳ Ｐゴシック" panose="020B0600070205080204" pitchFamily="50" charset="-128"/>
                  <a:ea typeface="ＭＳ Ｐゴシック" panose="020B0600070205080204" pitchFamily="50" charset="-128"/>
                  <a:cs typeface="+mn-cs"/>
                </a:rPr>
                <a:t>完了</a:t>
              </a:r>
              <a:endPara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ＭＳ Ｐゴシック" panose="020B0600070205080204" pitchFamily="50" charset="-128"/>
                <a:ea typeface="ＭＳ Ｐゴシック" panose="020B0600070205080204" pitchFamily="50" charset="-128"/>
                <a:cs typeface="+mn-cs"/>
              </a:endParaRPr>
            </a:p>
          </p:txBody>
        </p:sp>
      </p:grp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2E8EC61-378D-48F2-68DE-637F3AAD81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1584" y="5247915"/>
            <a:ext cx="1865774" cy="1083873"/>
          </a:xfrm>
          <a:prstGeom prst="ellipse">
            <a:avLst/>
          </a:prstGeom>
          <a:solidFill>
            <a:schemeClr val="accent1">
              <a:lumMod val="9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ctr">
              <a:buNone/>
            </a:pPr>
            <a:r>
              <a:rPr lang="ja-JP" altLang="en-US" sz="2800" dirty="0">
                <a:latin typeface="+mn-ea"/>
              </a:rPr>
              <a:t>部門を入力</a:t>
            </a:r>
            <a:endParaRPr lang="en-US" altLang="ja-JP" sz="2800" dirty="0">
              <a:latin typeface="+mn-ea"/>
            </a:endParaRPr>
          </a:p>
        </p:txBody>
      </p:sp>
      <p:sp>
        <p:nvSpPr>
          <p:cNvPr id="34" name="矢印: 右 33">
            <a:extLst>
              <a:ext uri="{FF2B5EF4-FFF2-40B4-BE49-F238E27FC236}">
                <a16:creationId xmlns:a16="http://schemas.microsoft.com/office/drawing/2014/main" id="{E7F1BE5F-E7D7-F88D-EC09-23463B933B10}"/>
              </a:ext>
            </a:extLst>
          </p:cNvPr>
          <p:cNvSpPr/>
          <p:nvPr/>
        </p:nvSpPr>
        <p:spPr>
          <a:xfrm>
            <a:off x="5986229" y="5564343"/>
            <a:ext cx="555173" cy="644048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コンテンツ プレースホルダー 2">
            <a:extLst>
              <a:ext uri="{FF2B5EF4-FFF2-40B4-BE49-F238E27FC236}">
                <a16:creationId xmlns:a16="http://schemas.microsoft.com/office/drawing/2014/main" id="{721FA9A3-B857-54CF-587D-46CDCF2925D7}"/>
              </a:ext>
            </a:extLst>
          </p:cNvPr>
          <p:cNvSpPr txBox="1">
            <a:spLocks/>
          </p:cNvSpPr>
          <p:nvPr/>
        </p:nvSpPr>
        <p:spPr>
          <a:xfrm>
            <a:off x="3548743" y="1824353"/>
            <a:ext cx="5649686" cy="53529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ja-JP" altLang="en-US" sz="2800" dirty="0">
                <a:latin typeface="+mn-ea"/>
              </a:rPr>
              <a:t>部門を新規登録することができる機能</a:t>
            </a:r>
            <a:endParaRPr lang="en-US" altLang="ja-JP" sz="2800" dirty="0">
              <a:latin typeface="+mn-ea"/>
            </a:endParaRPr>
          </a:p>
          <a:p>
            <a:pPr marL="0" indent="0">
              <a:buFont typeface="Calibri" panose="020F0502020204030204" pitchFamily="34" charset="0"/>
              <a:buNone/>
            </a:pPr>
            <a:endParaRPr lang="en-US" altLang="ja-JP" sz="2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29583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341A2-6FD2-1E84-0AA7-8695D399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DE9EFD30-56A9-AE8C-6160-189D9483DC6A}"/>
              </a:ext>
            </a:extLst>
          </p:cNvPr>
          <p:cNvSpPr/>
          <p:nvPr/>
        </p:nvSpPr>
        <p:spPr>
          <a:xfrm>
            <a:off x="879219" y="4544015"/>
            <a:ext cx="10461172" cy="904074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C1A27CD6-E960-DB9B-86BA-A57D2A414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058" y="856760"/>
            <a:ext cx="6052456" cy="830997"/>
          </a:xfrm>
        </p:spPr>
        <p:txBody>
          <a:bodyPr>
            <a:normAutofit/>
          </a:bodyPr>
          <a:lstStyle/>
          <a:p>
            <a:r>
              <a:rPr lang="ja-JP" altLang="en-US" dirty="0"/>
              <a:t>成果物の概要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7DEE90-F12E-E9EA-EDE2-ACFA44CB3C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84962" y="1990837"/>
            <a:ext cx="5649686" cy="53529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ja-JP" altLang="en-US" sz="2800" dirty="0">
                <a:latin typeface="+mn-ea"/>
              </a:rPr>
              <a:t>部門を新規登録することができる機能</a:t>
            </a:r>
            <a:endParaRPr lang="en-US" altLang="ja-JP" sz="2800" dirty="0">
              <a:latin typeface="+mn-ea"/>
            </a:endParaRPr>
          </a:p>
          <a:p>
            <a:pPr marL="0" indent="0">
              <a:buNone/>
            </a:pPr>
            <a:endParaRPr lang="en-US" altLang="ja-JP" sz="2800" dirty="0">
              <a:latin typeface="+mn-ea"/>
            </a:endParaRPr>
          </a:p>
        </p:txBody>
      </p:sp>
      <p:sp>
        <p:nvSpPr>
          <p:cNvPr id="5" name="スライド番号プレースホルダー 7">
            <a:extLst>
              <a:ext uri="{FF2B5EF4-FFF2-40B4-BE49-F238E27FC236}">
                <a16:creationId xmlns:a16="http://schemas.microsoft.com/office/drawing/2014/main" id="{280CCB96-60A8-871D-1E77-2E1E0530D29C}"/>
              </a:ext>
            </a:extLst>
          </p:cNvPr>
          <p:cNvSpPr txBox="1">
            <a:spLocks/>
          </p:cNvSpPr>
          <p:nvPr/>
        </p:nvSpPr>
        <p:spPr>
          <a:xfrm>
            <a:off x="10499667" y="6422937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837E92-EED2-47AB-AC31-355EF2C00DF5}" type="slidenum">
              <a:rPr kumimoji="1" lang="ja-JP" altLang="en-US" sz="2000" smtClean="0"/>
              <a:pPr/>
              <a:t>7</a:t>
            </a:fld>
            <a:endParaRPr kumimoji="1" lang="ja-JP" altLang="en-US" sz="2000" dirty="0"/>
          </a:p>
        </p:txBody>
      </p:sp>
      <p:sp>
        <p:nvSpPr>
          <p:cNvPr id="10" name="タイトル 1">
            <a:extLst>
              <a:ext uri="{FF2B5EF4-FFF2-40B4-BE49-F238E27FC236}">
                <a16:creationId xmlns:a16="http://schemas.microsoft.com/office/drawing/2014/main" id="{793B727A-765F-C40E-86A6-11109C2A3325}"/>
              </a:ext>
            </a:extLst>
          </p:cNvPr>
          <p:cNvSpPr txBox="1">
            <a:spLocks/>
          </p:cNvSpPr>
          <p:nvPr/>
        </p:nvSpPr>
        <p:spPr>
          <a:xfrm>
            <a:off x="8763000" y="1038907"/>
            <a:ext cx="2569029" cy="64885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2500" lnSpcReduction="10000"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kumimoji="1"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3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部門登録の制限</a:t>
            </a:r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89A23101-C02E-B551-401B-F6E001A69709}"/>
              </a:ext>
            </a:extLst>
          </p:cNvPr>
          <p:cNvSpPr txBox="1">
            <a:spLocks/>
          </p:cNvSpPr>
          <p:nvPr/>
        </p:nvSpPr>
        <p:spPr>
          <a:xfrm>
            <a:off x="1872342" y="3303033"/>
            <a:ext cx="3194957" cy="68676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ja-JP" altLang="en-US" sz="2800" dirty="0">
                <a:latin typeface="+mn-ea"/>
              </a:rPr>
              <a:t>空欄のまま入力</a:t>
            </a:r>
            <a:endParaRPr lang="en-US" altLang="ja-JP" sz="2800" dirty="0">
              <a:latin typeface="+mn-ea"/>
            </a:endParaRPr>
          </a:p>
          <a:p>
            <a:pPr marL="0" indent="0">
              <a:buFont typeface="Calibri" panose="020F0502020204030204" pitchFamily="34" charset="0"/>
              <a:buNone/>
            </a:pPr>
            <a:endParaRPr lang="en-US" altLang="ja-JP" sz="2800" dirty="0">
              <a:latin typeface="+mn-ea"/>
            </a:endParaRPr>
          </a:p>
        </p:txBody>
      </p:sp>
      <p:sp>
        <p:nvSpPr>
          <p:cNvPr id="11" name="コンテンツ プレースホルダー 2">
            <a:extLst>
              <a:ext uri="{FF2B5EF4-FFF2-40B4-BE49-F238E27FC236}">
                <a16:creationId xmlns:a16="http://schemas.microsoft.com/office/drawing/2014/main" id="{EB050AC6-79A7-FE7C-09B4-17943361EB01}"/>
              </a:ext>
            </a:extLst>
          </p:cNvPr>
          <p:cNvSpPr txBox="1">
            <a:spLocks/>
          </p:cNvSpPr>
          <p:nvPr/>
        </p:nvSpPr>
        <p:spPr>
          <a:xfrm>
            <a:off x="6953448" y="3085719"/>
            <a:ext cx="3962400" cy="911694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sz="2800" dirty="0">
                <a:latin typeface="+mn-ea"/>
              </a:rPr>
              <a:t>“</a:t>
            </a:r>
            <a:r>
              <a:rPr lang="ja-JP" altLang="en-US" sz="2800" dirty="0">
                <a:solidFill>
                  <a:srgbClr val="FF0000"/>
                </a:solidFill>
                <a:latin typeface="+mn-ea"/>
              </a:rPr>
              <a:t>部門は入力必須です</a:t>
            </a:r>
            <a:r>
              <a:rPr lang="ja-JP" altLang="en-US" sz="2800" dirty="0">
                <a:latin typeface="+mn-ea"/>
              </a:rPr>
              <a:t>” のエラーメッセージの表示</a:t>
            </a:r>
            <a:endParaRPr lang="en-US" altLang="ja-JP" sz="2800" dirty="0">
              <a:latin typeface="+mn-ea"/>
            </a:endParaRPr>
          </a:p>
        </p:txBody>
      </p:sp>
      <p:sp>
        <p:nvSpPr>
          <p:cNvPr id="12" name="コンテンツ プレースホルダー 2">
            <a:extLst>
              <a:ext uri="{FF2B5EF4-FFF2-40B4-BE49-F238E27FC236}">
                <a16:creationId xmlns:a16="http://schemas.microsoft.com/office/drawing/2014/main" id="{61170DF2-D75C-32B2-4C8A-1BA48739A556}"/>
              </a:ext>
            </a:extLst>
          </p:cNvPr>
          <p:cNvSpPr txBox="1">
            <a:spLocks/>
          </p:cNvSpPr>
          <p:nvPr/>
        </p:nvSpPr>
        <p:spPr>
          <a:xfrm>
            <a:off x="1818840" y="4738891"/>
            <a:ext cx="3799114" cy="390668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ja-JP" altLang="en-US" sz="2800" dirty="0">
                <a:latin typeface="+mn-ea"/>
              </a:rPr>
              <a:t>２</a:t>
            </a:r>
            <a:r>
              <a:rPr lang="en-US" altLang="ja-JP" sz="2800" dirty="0">
                <a:latin typeface="+mn-ea"/>
              </a:rPr>
              <a:t>1</a:t>
            </a:r>
            <a:r>
              <a:rPr lang="ja-JP" altLang="en-US" sz="2800" dirty="0">
                <a:latin typeface="+mn-ea"/>
              </a:rPr>
              <a:t>文字以上の入力</a:t>
            </a:r>
            <a:endParaRPr lang="en-US" altLang="ja-JP" sz="2800" dirty="0">
              <a:latin typeface="+mn-ea"/>
            </a:endParaRPr>
          </a:p>
          <a:p>
            <a:pPr marL="0" indent="0">
              <a:buFont typeface="Calibri" panose="020F0502020204030204" pitchFamily="34" charset="0"/>
              <a:buNone/>
            </a:pPr>
            <a:endParaRPr lang="en-US" altLang="ja-JP" sz="2800" dirty="0">
              <a:latin typeface="+mn-ea"/>
            </a:endParaRPr>
          </a:p>
        </p:txBody>
      </p:sp>
      <p:sp>
        <p:nvSpPr>
          <p:cNvPr id="13" name="コンテンツ プレースホルダー 2">
            <a:extLst>
              <a:ext uri="{FF2B5EF4-FFF2-40B4-BE49-F238E27FC236}">
                <a16:creationId xmlns:a16="http://schemas.microsoft.com/office/drawing/2014/main" id="{B8439FBF-FD20-7875-AA76-D6301D4433A9}"/>
              </a:ext>
            </a:extLst>
          </p:cNvPr>
          <p:cNvSpPr txBox="1">
            <a:spLocks/>
          </p:cNvSpPr>
          <p:nvPr/>
        </p:nvSpPr>
        <p:spPr>
          <a:xfrm>
            <a:off x="6953448" y="4587861"/>
            <a:ext cx="4171752" cy="904073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sz="2800" dirty="0">
                <a:latin typeface="+mn-ea"/>
              </a:rPr>
              <a:t>“</a:t>
            </a:r>
            <a:r>
              <a:rPr lang="ja-JP" altLang="en-US" sz="2800" dirty="0">
                <a:solidFill>
                  <a:srgbClr val="FF0000"/>
                </a:solidFill>
                <a:latin typeface="+mn-ea"/>
              </a:rPr>
              <a:t>部門は</a:t>
            </a:r>
            <a:r>
              <a:rPr lang="en-US" altLang="ja-JP" sz="2800" dirty="0">
                <a:solidFill>
                  <a:srgbClr val="FF0000"/>
                </a:solidFill>
                <a:latin typeface="+mn-ea"/>
              </a:rPr>
              <a:t>20</a:t>
            </a:r>
            <a:r>
              <a:rPr lang="ja-JP" altLang="en-US" sz="2800" dirty="0">
                <a:solidFill>
                  <a:srgbClr val="FF0000"/>
                </a:solidFill>
                <a:latin typeface="+mn-ea"/>
              </a:rPr>
              <a:t>文字以内です</a:t>
            </a:r>
            <a:r>
              <a:rPr lang="ja-JP" altLang="en-US" sz="2800" dirty="0">
                <a:latin typeface="+mn-ea"/>
              </a:rPr>
              <a:t>”のエラーメッセージの表示</a:t>
            </a:r>
            <a:endParaRPr lang="en-US" altLang="ja-JP" sz="2800" dirty="0">
              <a:latin typeface="+mn-ea"/>
            </a:endParaRPr>
          </a:p>
        </p:txBody>
      </p:sp>
      <p:sp>
        <p:nvSpPr>
          <p:cNvPr id="14" name="矢印: 右 13">
            <a:extLst>
              <a:ext uri="{FF2B5EF4-FFF2-40B4-BE49-F238E27FC236}">
                <a16:creationId xmlns:a16="http://schemas.microsoft.com/office/drawing/2014/main" id="{B3E58FA5-592B-6421-A2EF-142583C6B0B2}"/>
              </a:ext>
            </a:extLst>
          </p:cNvPr>
          <p:cNvSpPr/>
          <p:nvPr/>
        </p:nvSpPr>
        <p:spPr>
          <a:xfrm>
            <a:off x="5834743" y="3219542"/>
            <a:ext cx="555173" cy="644048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矢印: 右 14">
            <a:extLst>
              <a:ext uri="{FF2B5EF4-FFF2-40B4-BE49-F238E27FC236}">
                <a16:creationId xmlns:a16="http://schemas.microsoft.com/office/drawing/2014/main" id="{E6AAF0C8-D579-93E0-F8D3-17F6F8F94E2F}"/>
              </a:ext>
            </a:extLst>
          </p:cNvPr>
          <p:cNvSpPr/>
          <p:nvPr/>
        </p:nvSpPr>
        <p:spPr>
          <a:xfrm>
            <a:off x="5834743" y="4631280"/>
            <a:ext cx="555173" cy="644048"/>
          </a:xfrm>
          <a:prstGeom prst="rightArrow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コンテンツ プレースホルダー 2">
            <a:extLst>
              <a:ext uri="{FF2B5EF4-FFF2-40B4-BE49-F238E27FC236}">
                <a16:creationId xmlns:a16="http://schemas.microsoft.com/office/drawing/2014/main" id="{7482F41F-EEC0-2B2C-C25E-3661ED8797B7}"/>
              </a:ext>
            </a:extLst>
          </p:cNvPr>
          <p:cNvSpPr txBox="1">
            <a:spLocks/>
          </p:cNvSpPr>
          <p:nvPr/>
        </p:nvSpPr>
        <p:spPr>
          <a:xfrm>
            <a:off x="6319504" y="5592133"/>
            <a:ext cx="5048449" cy="68676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en-US" altLang="ja-JP" sz="2800" dirty="0">
                <a:latin typeface="+mn-ea"/>
              </a:rPr>
              <a:t>20</a:t>
            </a:r>
            <a:r>
              <a:rPr lang="ja-JP" altLang="en-US" sz="2800" dirty="0">
                <a:latin typeface="+mn-ea"/>
              </a:rPr>
              <a:t>文字までしか入力できない制限</a:t>
            </a:r>
            <a:endParaRPr lang="en-US" altLang="ja-JP" sz="2800" dirty="0">
              <a:latin typeface="+mn-ea"/>
            </a:endParaRPr>
          </a:p>
          <a:p>
            <a:pPr marL="0" indent="0">
              <a:buFont typeface="Calibri" panose="020F0502020204030204" pitchFamily="34" charset="0"/>
              <a:buNone/>
            </a:pPr>
            <a:endParaRPr lang="en-US" altLang="ja-JP" sz="2800" dirty="0">
              <a:latin typeface="+mn-ea"/>
            </a:endParaRPr>
          </a:p>
        </p:txBody>
      </p:sp>
      <p:pic>
        <p:nvPicPr>
          <p:cNvPr id="22" name="グラフィックス 21" descr="教授 女性 単色塗りつぶし">
            <a:extLst>
              <a:ext uri="{FF2B5EF4-FFF2-40B4-BE49-F238E27FC236}">
                <a16:creationId xmlns:a16="http://schemas.microsoft.com/office/drawing/2014/main" id="{B7FB0D97-FB3D-4586-01DB-3DD8D97366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29716" y="5448089"/>
            <a:ext cx="761311" cy="761311"/>
          </a:xfrm>
          <a:prstGeom prst="rect">
            <a:avLst/>
          </a:prstGeom>
        </p:spPr>
      </p:pic>
      <p:pic>
        <p:nvPicPr>
          <p:cNvPr id="24" name="グラフィックス 23" descr="ハーベイ ボール 0% 単色塗りつぶし">
            <a:extLst>
              <a:ext uri="{FF2B5EF4-FFF2-40B4-BE49-F238E27FC236}">
                <a16:creationId xmlns:a16="http://schemas.microsoft.com/office/drawing/2014/main" id="{37D6988D-765D-D038-1220-8F5F5D817B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4896" y="3219542"/>
            <a:ext cx="613944" cy="613944"/>
          </a:xfrm>
          <a:prstGeom prst="rect">
            <a:avLst/>
          </a:prstGeom>
        </p:spPr>
      </p:pic>
      <p:sp>
        <p:nvSpPr>
          <p:cNvPr id="25" name="乗算記号 24">
            <a:extLst>
              <a:ext uri="{FF2B5EF4-FFF2-40B4-BE49-F238E27FC236}">
                <a16:creationId xmlns:a16="http://schemas.microsoft.com/office/drawing/2014/main" id="{93CA23F8-39DF-DDF1-F5F6-42896F338E09}"/>
              </a:ext>
            </a:extLst>
          </p:cNvPr>
          <p:cNvSpPr/>
          <p:nvPr/>
        </p:nvSpPr>
        <p:spPr>
          <a:xfrm>
            <a:off x="1199951" y="4631280"/>
            <a:ext cx="555174" cy="644048"/>
          </a:xfrm>
          <a:prstGeom prst="mathMultiply">
            <a:avLst/>
          </a:prstGeom>
          <a:ln w="3175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24825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17E7C-8941-FBA8-52B3-48B11D7DE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679FBE-FF7E-B0D3-2345-D6E41B58D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058" y="856760"/>
            <a:ext cx="6052456" cy="830997"/>
          </a:xfrm>
        </p:spPr>
        <p:txBody>
          <a:bodyPr>
            <a:normAutofit/>
          </a:bodyPr>
          <a:lstStyle/>
          <a:p>
            <a:r>
              <a:rPr lang="ja-JP" altLang="en-US" dirty="0"/>
              <a:t>成果物の概要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1C2C33F-6B53-94A7-D219-E6F5685321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0271" y="1814482"/>
            <a:ext cx="5671457" cy="64885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ja-JP" altLang="en-US" sz="2800" dirty="0">
                <a:latin typeface="+mn-ea"/>
              </a:rPr>
              <a:t>社員を新規登録することができる機能</a:t>
            </a:r>
            <a:endParaRPr lang="en-US" altLang="ja-JP" sz="2800" dirty="0">
              <a:latin typeface="+mn-ea"/>
            </a:endParaRPr>
          </a:p>
          <a:p>
            <a:pPr marL="0" indent="0">
              <a:buNone/>
            </a:pPr>
            <a:endParaRPr lang="en-US" altLang="ja-JP" sz="2800" dirty="0">
              <a:latin typeface="+mn-ea"/>
            </a:endParaRPr>
          </a:p>
        </p:txBody>
      </p:sp>
      <p:sp>
        <p:nvSpPr>
          <p:cNvPr id="5" name="スライド番号プレースホルダー 7">
            <a:extLst>
              <a:ext uri="{FF2B5EF4-FFF2-40B4-BE49-F238E27FC236}">
                <a16:creationId xmlns:a16="http://schemas.microsoft.com/office/drawing/2014/main" id="{EA67B8DD-7A03-7FDC-800F-DA32A984D521}"/>
              </a:ext>
            </a:extLst>
          </p:cNvPr>
          <p:cNvSpPr txBox="1">
            <a:spLocks/>
          </p:cNvSpPr>
          <p:nvPr/>
        </p:nvSpPr>
        <p:spPr>
          <a:xfrm>
            <a:off x="10499667" y="6422937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837E92-EED2-47AB-AC31-355EF2C00DF5}" type="slidenum">
              <a:rPr kumimoji="1" lang="ja-JP" altLang="en-US" sz="2000" smtClean="0"/>
              <a:pPr/>
              <a:t>8</a:t>
            </a:fld>
            <a:endParaRPr kumimoji="1" lang="ja-JP" altLang="en-US" sz="2000" dirty="0"/>
          </a:p>
        </p:txBody>
      </p:sp>
      <p:sp>
        <p:nvSpPr>
          <p:cNvPr id="10" name="タイトル 1">
            <a:extLst>
              <a:ext uri="{FF2B5EF4-FFF2-40B4-BE49-F238E27FC236}">
                <a16:creationId xmlns:a16="http://schemas.microsoft.com/office/drawing/2014/main" id="{B548C147-D8E1-B0FD-A952-FAEFC1400EF7}"/>
              </a:ext>
            </a:extLst>
          </p:cNvPr>
          <p:cNvSpPr txBox="1">
            <a:spLocks/>
          </p:cNvSpPr>
          <p:nvPr/>
        </p:nvSpPr>
        <p:spPr>
          <a:xfrm>
            <a:off x="9323615" y="1038907"/>
            <a:ext cx="2008414" cy="64885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kumimoji="1"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3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社員登録</a:t>
            </a:r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1D678B89-C746-99A9-3D27-617272A4E1E9}"/>
              </a:ext>
            </a:extLst>
          </p:cNvPr>
          <p:cNvSpPr txBox="1">
            <a:spLocks/>
          </p:cNvSpPr>
          <p:nvPr/>
        </p:nvSpPr>
        <p:spPr>
          <a:xfrm>
            <a:off x="143836" y="2390630"/>
            <a:ext cx="522514" cy="648851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ja-JP" altLang="en-US" sz="2800" dirty="0">
                <a:latin typeface="+mn-ea"/>
              </a:rPr>
              <a:t>①</a:t>
            </a:r>
            <a:endParaRPr lang="en-US" altLang="ja-JP" sz="2800" dirty="0">
              <a:latin typeface="+mn-ea"/>
            </a:endParaRPr>
          </a:p>
          <a:p>
            <a:pPr marL="0" indent="0">
              <a:buFont typeface="Calibri" panose="020F0502020204030204" pitchFamily="34" charset="0"/>
              <a:buNone/>
            </a:pPr>
            <a:endParaRPr lang="en-US" altLang="ja-JP" sz="2800" dirty="0">
              <a:latin typeface="+mn-ea"/>
            </a:endParaRPr>
          </a:p>
          <a:p>
            <a:pPr marL="0" indent="0">
              <a:buFont typeface="Calibri" panose="020F0502020204030204" pitchFamily="34" charset="0"/>
              <a:buNone/>
            </a:pPr>
            <a:endParaRPr lang="en-US" altLang="ja-JP" sz="2800" dirty="0">
              <a:latin typeface="+mn-ea"/>
            </a:endParaRPr>
          </a:p>
          <a:p>
            <a:pPr marL="0" indent="0">
              <a:buFont typeface="Calibri" panose="020F0502020204030204" pitchFamily="34" charset="0"/>
              <a:buNone/>
            </a:pPr>
            <a:endParaRPr lang="en-US" altLang="ja-JP" sz="2800" dirty="0">
              <a:latin typeface="+mn-ea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5B1DA2F5-4FEB-14EC-5DAE-4A8CF3BBFA1D}"/>
              </a:ext>
            </a:extLst>
          </p:cNvPr>
          <p:cNvSpPr txBox="1"/>
          <p:nvPr/>
        </p:nvSpPr>
        <p:spPr>
          <a:xfrm>
            <a:off x="8100963" y="2390630"/>
            <a:ext cx="5225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ja-JP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ＭＳ Ｐゴシック" panose="020B0600070205080204" pitchFamily="50" charset="-128"/>
                <a:ea typeface="ＭＳ Ｐゴシック" panose="020B0600070205080204" pitchFamily="50" charset="-128"/>
                <a:cs typeface="+mn-cs"/>
              </a:rPr>
              <a:t>③</a:t>
            </a:r>
            <a:endParaRPr lang="ja-JP" altLang="en-US" dirty="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12B0C4DF-3B55-127E-7B2F-E83CD88FAEEB}"/>
              </a:ext>
            </a:extLst>
          </p:cNvPr>
          <p:cNvSpPr txBox="1"/>
          <p:nvPr/>
        </p:nvSpPr>
        <p:spPr>
          <a:xfrm>
            <a:off x="4131989" y="2373839"/>
            <a:ext cx="5225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ja-JP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ＭＳ Ｐゴシック" panose="020B0600070205080204" pitchFamily="50" charset="-128"/>
                <a:ea typeface="ＭＳ Ｐゴシック" panose="020B0600070205080204" pitchFamily="50" charset="-128"/>
                <a:cs typeface="+mn-cs"/>
              </a:rPr>
              <a:t>②</a:t>
            </a:r>
            <a:endParaRPr lang="ja-JP" altLang="en-US" dirty="0"/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97FF79AB-9327-406F-8500-6CFDE0C2A3C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836" y="2846042"/>
            <a:ext cx="3899180" cy="2368129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0FBE1A17-F7A0-4480-9153-FF9CB43CCF4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7909" y="2846043"/>
            <a:ext cx="3915444" cy="2368130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24625512-F473-412F-A6C3-A95AB6ADFC7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5608" y="2855244"/>
            <a:ext cx="3894328" cy="2359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134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D2F11-6801-694A-079D-23FE802B2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吹き出し: 円形 27">
            <a:extLst>
              <a:ext uri="{FF2B5EF4-FFF2-40B4-BE49-F238E27FC236}">
                <a16:creationId xmlns:a16="http://schemas.microsoft.com/office/drawing/2014/main" id="{078AB3DE-AE7C-D493-8BD0-5BA178767AFD}"/>
              </a:ext>
            </a:extLst>
          </p:cNvPr>
          <p:cNvSpPr/>
          <p:nvPr/>
        </p:nvSpPr>
        <p:spPr>
          <a:xfrm rot="10800000">
            <a:off x="824524" y="4764504"/>
            <a:ext cx="4275341" cy="1578543"/>
          </a:xfrm>
          <a:prstGeom prst="wedgeEllipseCallou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B48C5AB-C5C9-2881-A58D-BB3EE4067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058" y="856760"/>
            <a:ext cx="6052456" cy="830997"/>
          </a:xfrm>
        </p:spPr>
        <p:txBody>
          <a:bodyPr>
            <a:normAutofit/>
          </a:bodyPr>
          <a:lstStyle/>
          <a:p>
            <a:r>
              <a:rPr lang="ja-JP" altLang="en-US" dirty="0"/>
              <a:t>成果物の概要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C818DEA-B0EC-4D1F-EC3A-1523AB7F85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0271" y="1814482"/>
            <a:ext cx="5671457" cy="64885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ja-JP" altLang="en-US" sz="2800" dirty="0">
                <a:latin typeface="+mn-ea"/>
              </a:rPr>
              <a:t>社員を新規登録することができる機能</a:t>
            </a:r>
            <a:endParaRPr lang="en-US" altLang="ja-JP" sz="2800" dirty="0">
              <a:latin typeface="+mn-ea"/>
            </a:endParaRPr>
          </a:p>
          <a:p>
            <a:pPr marL="0" indent="0">
              <a:buNone/>
            </a:pPr>
            <a:endParaRPr lang="en-US" altLang="ja-JP" sz="2800" dirty="0">
              <a:latin typeface="+mn-ea"/>
            </a:endParaRPr>
          </a:p>
        </p:txBody>
      </p:sp>
      <p:sp>
        <p:nvSpPr>
          <p:cNvPr id="5" name="スライド番号プレースホルダー 7">
            <a:extLst>
              <a:ext uri="{FF2B5EF4-FFF2-40B4-BE49-F238E27FC236}">
                <a16:creationId xmlns:a16="http://schemas.microsoft.com/office/drawing/2014/main" id="{88A70217-BDE9-BBFF-397E-D7A4E6ED3A8E}"/>
              </a:ext>
            </a:extLst>
          </p:cNvPr>
          <p:cNvSpPr txBox="1">
            <a:spLocks/>
          </p:cNvSpPr>
          <p:nvPr/>
        </p:nvSpPr>
        <p:spPr>
          <a:xfrm>
            <a:off x="10499667" y="6422937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837E92-EED2-47AB-AC31-355EF2C00DF5}" type="slidenum">
              <a:rPr kumimoji="1" lang="ja-JP" altLang="en-US" sz="2000" smtClean="0"/>
              <a:pPr/>
              <a:t>9</a:t>
            </a:fld>
            <a:endParaRPr kumimoji="1" lang="ja-JP" altLang="en-US" sz="2000" dirty="0"/>
          </a:p>
        </p:txBody>
      </p:sp>
      <p:sp>
        <p:nvSpPr>
          <p:cNvPr id="10" name="タイトル 1">
            <a:extLst>
              <a:ext uri="{FF2B5EF4-FFF2-40B4-BE49-F238E27FC236}">
                <a16:creationId xmlns:a16="http://schemas.microsoft.com/office/drawing/2014/main" id="{BB8FB82E-2CE6-5F33-32FE-87506F6A980C}"/>
              </a:ext>
            </a:extLst>
          </p:cNvPr>
          <p:cNvSpPr txBox="1">
            <a:spLocks/>
          </p:cNvSpPr>
          <p:nvPr/>
        </p:nvSpPr>
        <p:spPr>
          <a:xfrm>
            <a:off x="9323615" y="1038907"/>
            <a:ext cx="2008414" cy="64885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kumimoji="1"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3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社員登録</a:t>
            </a:r>
          </a:p>
        </p:txBody>
      </p:sp>
      <p:sp>
        <p:nvSpPr>
          <p:cNvPr id="6" name="コンテンツ プレースホルダー 2">
            <a:extLst>
              <a:ext uri="{FF2B5EF4-FFF2-40B4-BE49-F238E27FC236}">
                <a16:creationId xmlns:a16="http://schemas.microsoft.com/office/drawing/2014/main" id="{C47852C8-38AB-0F1A-A832-E440301485AE}"/>
              </a:ext>
            </a:extLst>
          </p:cNvPr>
          <p:cNvSpPr txBox="1">
            <a:spLocks/>
          </p:cNvSpPr>
          <p:nvPr/>
        </p:nvSpPr>
        <p:spPr>
          <a:xfrm>
            <a:off x="2481388" y="3139353"/>
            <a:ext cx="1692729" cy="648851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ja-JP" altLang="en-US" sz="2800" b="1" dirty="0">
                <a:solidFill>
                  <a:schemeClr val="tx1"/>
                </a:solidFill>
                <a:latin typeface="+mn-ea"/>
              </a:rPr>
              <a:t>氏名</a:t>
            </a:r>
            <a:r>
              <a:rPr lang="ja-JP" altLang="en-US" sz="2800" dirty="0">
                <a:solidFill>
                  <a:schemeClr val="tx1"/>
                </a:solidFill>
                <a:latin typeface="+mn-ea"/>
              </a:rPr>
              <a:t>：入力</a:t>
            </a:r>
            <a:endParaRPr lang="en-US" altLang="ja-JP" sz="28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B972066-5BC8-44B3-5B98-54C15FEFB801}"/>
              </a:ext>
            </a:extLst>
          </p:cNvPr>
          <p:cNvSpPr txBox="1"/>
          <p:nvPr/>
        </p:nvSpPr>
        <p:spPr>
          <a:xfrm>
            <a:off x="1670526" y="3588295"/>
            <a:ext cx="427534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alibri" panose="020F0502020204030204" pitchFamily="34" charset="0"/>
              <a:buNone/>
              <a:tabLst/>
              <a:defRPr/>
            </a:pPr>
            <a:r>
              <a:rPr kumimoji="0" lang="ja-JP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ＭＳ Ｐゴシック" panose="020B0600070205080204" pitchFamily="50" charset="-128"/>
                <a:ea typeface="ＭＳ Ｐゴシック" panose="020B0600070205080204" pitchFamily="50" charset="-128"/>
                <a:cs typeface="+mn-cs"/>
              </a:rPr>
              <a:t>所属部署</a:t>
            </a:r>
            <a:r>
              <a:rPr kumimoji="0" lang="ja-JP" alt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ＭＳ Ｐゴシック" panose="020B0600070205080204" pitchFamily="50" charset="-128"/>
                <a:ea typeface="ＭＳ Ｐゴシック" panose="020B0600070205080204" pitchFamily="50" charset="-128"/>
                <a:cs typeface="+mn-cs"/>
              </a:rPr>
              <a:t>：プルダウン形式</a:t>
            </a:r>
            <a:endParaRPr kumimoji="0" lang="en-US" altLang="ja-JP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ＭＳ Ｐゴシック" panose="020B0600070205080204" pitchFamily="50" charset="-128"/>
              <a:ea typeface="ＭＳ Ｐゴシック" panose="020B0600070205080204" pitchFamily="50" charset="-128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alibri" panose="020F0502020204030204" pitchFamily="34" charset="0"/>
              <a:buNone/>
              <a:tabLst/>
              <a:defRPr/>
            </a:pPr>
            <a:r>
              <a:rPr lang="ja-JP" altLang="en-US" sz="28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　　　　　　　</a:t>
            </a:r>
            <a:r>
              <a:rPr kumimoji="0" lang="ja-JP" alt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ＭＳ Ｐゴシック" panose="020B0600070205080204" pitchFamily="50" charset="-128"/>
                <a:ea typeface="ＭＳ Ｐゴシック" panose="020B0600070205080204" pitchFamily="50" charset="-128"/>
                <a:cs typeface="+mn-cs"/>
              </a:rPr>
              <a:t>での選択</a:t>
            </a:r>
            <a:endParaRPr kumimoji="0" lang="en-US" altLang="ja-JP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ＭＳ Ｐゴシック" panose="020B0600070205080204" pitchFamily="50" charset="-128"/>
              <a:ea typeface="ＭＳ Ｐゴシック" panose="020B0600070205080204" pitchFamily="50" charset="-128"/>
              <a:cs typeface="+mn-cs"/>
            </a:endParaRPr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A19AD6E7-A5F2-CB1D-50F0-0849DBEA134C}"/>
              </a:ext>
            </a:extLst>
          </p:cNvPr>
          <p:cNvGrpSpPr/>
          <p:nvPr/>
        </p:nvGrpSpPr>
        <p:grpSpPr>
          <a:xfrm>
            <a:off x="7621470" y="3139354"/>
            <a:ext cx="2596100" cy="1481496"/>
            <a:chOff x="6219027" y="3294960"/>
            <a:chExt cx="1883488" cy="1144474"/>
          </a:xfrm>
        </p:grpSpPr>
        <p:sp>
          <p:nvSpPr>
            <p:cNvPr id="8" name="コンテンツ プレースホルダー 2">
              <a:extLst>
                <a:ext uri="{FF2B5EF4-FFF2-40B4-BE49-F238E27FC236}">
                  <a16:creationId xmlns:a16="http://schemas.microsoft.com/office/drawing/2014/main" id="{D4034089-005B-8191-462B-F5C7F59A66A8}"/>
                </a:ext>
              </a:extLst>
            </p:cNvPr>
            <p:cNvSpPr txBox="1">
              <a:spLocks/>
            </p:cNvSpPr>
            <p:nvPr/>
          </p:nvSpPr>
          <p:spPr>
            <a:xfrm>
              <a:off x="6219027" y="3294960"/>
              <a:ext cx="1865774" cy="1083873"/>
            </a:xfrm>
            <a:prstGeom prst="ellipse">
              <a:avLst/>
            </a:prstGeom>
            <a:solidFill>
              <a:schemeClr val="accent1">
                <a:lumMod val="90000"/>
              </a:schemeClr>
            </a:solidFill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lIns="0" tIns="45720" rIns="0" bIns="45720" rtlCol="0">
              <a:noAutofit/>
            </a:bodyPr>
            <a:lstStyle>
              <a:lvl1pPr marL="91440" indent="-91440" algn="l" defTabSz="914400" rtl="0" eaLnBrk="1" latinLnBrk="0" hangingPunct="1"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kumimoji="1"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384048" indent="-18288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kumimoji="1"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566928" indent="-18288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kumimoji="1" sz="1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749808" indent="-18288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kumimoji="1" sz="1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932688" indent="-18288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kumimoji="1" sz="1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1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kumimoji="1" sz="1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3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kumimoji="1" sz="1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5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kumimoji="1" sz="1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17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kumimoji="1" sz="1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endParaRPr lang="en-US" altLang="ja-JP" sz="2800" dirty="0">
                <a:latin typeface="+mn-ea"/>
              </a:endParaRPr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FFB9B26B-F565-53DA-1F35-363D5E3E722A}"/>
                </a:ext>
              </a:extLst>
            </p:cNvPr>
            <p:cNvSpPr txBox="1"/>
            <p:nvPr/>
          </p:nvSpPr>
          <p:spPr>
            <a:xfrm>
              <a:off x="6236741" y="3485327"/>
              <a:ext cx="1865774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ja-JP" altLang="en-US" sz="2800" dirty="0">
                  <a:solidFill>
                    <a:srgbClr val="000000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社員</a:t>
              </a:r>
              <a:r>
                <a:rPr kumimoji="0" lang="ja-JP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ＭＳ Ｐゴシック" panose="020B0600070205080204" pitchFamily="50" charset="-128"/>
                  <a:ea typeface="ＭＳ Ｐゴシック" panose="020B0600070205080204" pitchFamily="50" charset="-128"/>
                  <a:cs typeface="+mn-cs"/>
                </a:rPr>
                <a:t>登録</a:t>
              </a:r>
              <a:endPara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ＭＳ Ｐゴシック" panose="020B0600070205080204" pitchFamily="50" charset="-128"/>
                <a:ea typeface="ＭＳ Ｐゴシック" panose="020B0600070205080204" pitchFamily="50" charset="-128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ＭＳ Ｐゴシック" panose="020B0600070205080204" pitchFamily="50" charset="-128"/>
                  <a:ea typeface="ＭＳ Ｐゴシック" panose="020B0600070205080204" pitchFamily="50" charset="-128"/>
                  <a:cs typeface="+mn-cs"/>
                </a:rPr>
                <a:t>完了</a:t>
              </a:r>
              <a:endPara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ＭＳ Ｐゴシック" panose="020B0600070205080204" pitchFamily="50" charset="-128"/>
                <a:ea typeface="ＭＳ Ｐゴシック" panose="020B0600070205080204" pitchFamily="50" charset="-128"/>
                <a:cs typeface="+mn-cs"/>
              </a:endParaRPr>
            </a:p>
          </p:txBody>
        </p:sp>
      </p:grpSp>
      <p:sp>
        <p:nvSpPr>
          <p:cNvPr id="13" name="矢印: 右 12">
            <a:extLst>
              <a:ext uri="{FF2B5EF4-FFF2-40B4-BE49-F238E27FC236}">
                <a16:creationId xmlns:a16="http://schemas.microsoft.com/office/drawing/2014/main" id="{7B5D45AC-F567-8A52-64AF-431B78824857}"/>
              </a:ext>
            </a:extLst>
          </p:cNvPr>
          <p:cNvSpPr/>
          <p:nvPr/>
        </p:nvSpPr>
        <p:spPr>
          <a:xfrm>
            <a:off x="6351268" y="3359266"/>
            <a:ext cx="555173" cy="644048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C821E342-4762-D7BF-A26C-6EC412B5C57F}"/>
              </a:ext>
            </a:extLst>
          </p:cNvPr>
          <p:cNvSpPr txBox="1"/>
          <p:nvPr/>
        </p:nvSpPr>
        <p:spPr>
          <a:xfrm>
            <a:off x="1242110" y="5047133"/>
            <a:ext cx="359939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alibri" panose="020F0502020204030204" pitchFamily="34" charset="0"/>
              <a:buNone/>
              <a:tabLst/>
              <a:defRPr/>
            </a:pPr>
            <a:r>
              <a:rPr lang="ja-JP" altLang="en-US" sz="2800" dirty="0">
                <a:solidFill>
                  <a:srgbClr val="000000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部門登録されたものは所属部署で表示される</a:t>
            </a:r>
            <a:endParaRPr kumimoji="0" lang="en-US" altLang="ja-JP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ＭＳ Ｐゴシック" panose="020B0600070205080204" pitchFamily="50" charset="-128"/>
              <a:ea typeface="ＭＳ Ｐゴシック" panose="020B060007020508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6387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65665-E684-FA55-AB92-775E3FAE3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47D57508-68B9-2B40-BA6D-10A119AFA1EB}"/>
              </a:ext>
            </a:extLst>
          </p:cNvPr>
          <p:cNvSpPr/>
          <p:nvPr/>
        </p:nvSpPr>
        <p:spPr>
          <a:xfrm>
            <a:off x="879219" y="4544015"/>
            <a:ext cx="10461172" cy="904074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グラフィックス 6" descr="ハーベイ ボール 0% 単色塗りつぶし">
            <a:extLst>
              <a:ext uri="{FF2B5EF4-FFF2-40B4-BE49-F238E27FC236}">
                <a16:creationId xmlns:a16="http://schemas.microsoft.com/office/drawing/2014/main" id="{0C5FCB43-E80C-F9C4-89C2-6D36921124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4896" y="3219542"/>
            <a:ext cx="613944" cy="613944"/>
          </a:xfrm>
          <a:prstGeom prst="rect">
            <a:avLst/>
          </a:prstGeom>
        </p:spPr>
      </p:pic>
      <p:sp>
        <p:nvSpPr>
          <p:cNvPr id="8" name="乗算記号 7">
            <a:extLst>
              <a:ext uri="{FF2B5EF4-FFF2-40B4-BE49-F238E27FC236}">
                <a16:creationId xmlns:a16="http://schemas.microsoft.com/office/drawing/2014/main" id="{B18D3C2A-F48B-C989-7BA9-0CB5DCACAFA1}"/>
              </a:ext>
            </a:extLst>
          </p:cNvPr>
          <p:cNvSpPr/>
          <p:nvPr/>
        </p:nvSpPr>
        <p:spPr>
          <a:xfrm>
            <a:off x="1199951" y="4631280"/>
            <a:ext cx="555174" cy="644048"/>
          </a:xfrm>
          <a:prstGeom prst="mathMultiply">
            <a:avLst/>
          </a:prstGeom>
          <a:ln w="3175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399E5FB-F14D-A1C9-F3FB-A4EB366EC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058" y="856760"/>
            <a:ext cx="6052456" cy="830997"/>
          </a:xfrm>
        </p:spPr>
        <p:txBody>
          <a:bodyPr>
            <a:normAutofit/>
          </a:bodyPr>
          <a:lstStyle/>
          <a:p>
            <a:r>
              <a:rPr lang="ja-JP" altLang="en-US" dirty="0"/>
              <a:t>成果物の概要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04EBEFF-A60E-79D1-D212-4113F2D3D5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84962" y="1990837"/>
            <a:ext cx="5649686" cy="53529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ja-JP" altLang="en-US" sz="2800" dirty="0">
                <a:latin typeface="+mn-ea"/>
              </a:rPr>
              <a:t>社員を新規登録することができる機能</a:t>
            </a:r>
            <a:endParaRPr lang="en-US" altLang="ja-JP" sz="2800" dirty="0">
              <a:latin typeface="+mn-ea"/>
            </a:endParaRPr>
          </a:p>
          <a:p>
            <a:pPr marL="0" indent="0">
              <a:buNone/>
            </a:pPr>
            <a:endParaRPr lang="en-US" altLang="ja-JP" sz="2800" dirty="0">
              <a:latin typeface="+mn-ea"/>
            </a:endParaRPr>
          </a:p>
        </p:txBody>
      </p:sp>
      <p:sp>
        <p:nvSpPr>
          <p:cNvPr id="5" name="スライド番号プレースホルダー 7">
            <a:extLst>
              <a:ext uri="{FF2B5EF4-FFF2-40B4-BE49-F238E27FC236}">
                <a16:creationId xmlns:a16="http://schemas.microsoft.com/office/drawing/2014/main" id="{CD83C7B6-50E4-45FC-3DC7-F670AB1F5441}"/>
              </a:ext>
            </a:extLst>
          </p:cNvPr>
          <p:cNvSpPr txBox="1">
            <a:spLocks/>
          </p:cNvSpPr>
          <p:nvPr/>
        </p:nvSpPr>
        <p:spPr>
          <a:xfrm>
            <a:off x="10499667" y="6422937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837E92-EED2-47AB-AC31-355EF2C00DF5}" type="slidenum">
              <a:rPr kumimoji="1" lang="ja-JP" altLang="en-US" sz="2000" smtClean="0"/>
              <a:pPr/>
              <a:t>10</a:t>
            </a:fld>
            <a:endParaRPr kumimoji="1" lang="ja-JP" altLang="en-US" sz="2000" dirty="0"/>
          </a:p>
        </p:txBody>
      </p:sp>
      <p:sp>
        <p:nvSpPr>
          <p:cNvPr id="10" name="タイトル 1">
            <a:extLst>
              <a:ext uri="{FF2B5EF4-FFF2-40B4-BE49-F238E27FC236}">
                <a16:creationId xmlns:a16="http://schemas.microsoft.com/office/drawing/2014/main" id="{DBA8D35A-2BB2-FF77-93B7-806767534EC9}"/>
              </a:ext>
            </a:extLst>
          </p:cNvPr>
          <p:cNvSpPr txBox="1">
            <a:spLocks/>
          </p:cNvSpPr>
          <p:nvPr/>
        </p:nvSpPr>
        <p:spPr>
          <a:xfrm>
            <a:off x="8826366" y="1038907"/>
            <a:ext cx="2505663" cy="64885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2500" lnSpcReduction="10000"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kumimoji="1"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3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社員登録の制限</a:t>
            </a:r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9F86F813-7A80-451E-39DD-9E446178F649}"/>
              </a:ext>
            </a:extLst>
          </p:cNvPr>
          <p:cNvSpPr txBox="1">
            <a:spLocks/>
          </p:cNvSpPr>
          <p:nvPr/>
        </p:nvSpPr>
        <p:spPr>
          <a:xfrm>
            <a:off x="1872342" y="3303033"/>
            <a:ext cx="3194957" cy="68676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ja-JP" altLang="en-US" sz="2800" dirty="0">
                <a:latin typeface="+mn-ea"/>
              </a:rPr>
              <a:t>空欄のまま入力不可</a:t>
            </a:r>
            <a:endParaRPr lang="en-US" altLang="ja-JP" sz="2800" dirty="0">
              <a:latin typeface="+mn-ea"/>
            </a:endParaRPr>
          </a:p>
          <a:p>
            <a:pPr marL="0" indent="0">
              <a:buFont typeface="Calibri" panose="020F0502020204030204" pitchFamily="34" charset="0"/>
              <a:buNone/>
            </a:pPr>
            <a:endParaRPr lang="en-US" altLang="ja-JP" sz="2800" dirty="0">
              <a:latin typeface="+mn-ea"/>
            </a:endParaRPr>
          </a:p>
        </p:txBody>
      </p:sp>
      <p:sp>
        <p:nvSpPr>
          <p:cNvPr id="11" name="コンテンツ プレースホルダー 2">
            <a:extLst>
              <a:ext uri="{FF2B5EF4-FFF2-40B4-BE49-F238E27FC236}">
                <a16:creationId xmlns:a16="http://schemas.microsoft.com/office/drawing/2014/main" id="{3C6F35C9-EEB4-6486-4B28-8A5D512DB4F5}"/>
              </a:ext>
            </a:extLst>
          </p:cNvPr>
          <p:cNvSpPr txBox="1">
            <a:spLocks/>
          </p:cNvSpPr>
          <p:nvPr/>
        </p:nvSpPr>
        <p:spPr>
          <a:xfrm>
            <a:off x="6953448" y="3085719"/>
            <a:ext cx="3962400" cy="911694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sz="2800" dirty="0">
                <a:latin typeface="+mn-ea"/>
              </a:rPr>
              <a:t>“</a:t>
            </a:r>
            <a:r>
              <a:rPr lang="ja-JP" altLang="en-US" sz="2800" dirty="0">
                <a:solidFill>
                  <a:srgbClr val="FF0000"/>
                </a:solidFill>
                <a:latin typeface="+mn-ea"/>
              </a:rPr>
              <a:t>氏名は入力必須です</a:t>
            </a:r>
            <a:r>
              <a:rPr lang="ja-JP" altLang="en-US" sz="2800" dirty="0">
                <a:latin typeface="+mn-ea"/>
              </a:rPr>
              <a:t>” のエラーメッセージの表示</a:t>
            </a:r>
            <a:endParaRPr lang="en-US" altLang="ja-JP" sz="2800" dirty="0">
              <a:latin typeface="+mn-ea"/>
            </a:endParaRPr>
          </a:p>
        </p:txBody>
      </p:sp>
      <p:sp>
        <p:nvSpPr>
          <p:cNvPr id="12" name="コンテンツ プレースホルダー 2">
            <a:extLst>
              <a:ext uri="{FF2B5EF4-FFF2-40B4-BE49-F238E27FC236}">
                <a16:creationId xmlns:a16="http://schemas.microsoft.com/office/drawing/2014/main" id="{840E1FFD-DC0A-4289-EFA5-C93941E291DD}"/>
              </a:ext>
            </a:extLst>
          </p:cNvPr>
          <p:cNvSpPr txBox="1">
            <a:spLocks/>
          </p:cNvSpPr>
          <p:nvPr/>
        </p:nvSpPr>
        <p:spPr>
          <a:xfrm>
            <a:off x="1692729" y="4692351"/>
            <a:ext cx="3799114" cy="390668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ja-JP" altLang="en-US" sz="2800" dirty="0">
                <a:latin typeface="+mn-ea"/>
              </a:rPr>
              <a:t>２０文字までの入力制限</a:t>
            </a:r>
            <a:endParaRPr lang="en-US" altLang="ja-JP" sz="2800" dirty="0">
              <a:latin typeface="+mn-ea"/>
            </a:endParaRPr>
          </a:p>
          <a:p>
            <a:pPr marL="0" indent="0">
              <a:buFont typeface="Calibri" panose="020F0502020204030204" pitchFamily="34" charset="0"/>
              <a:buNone/>
            </a:pPr>
            <a:endParaRPr lang="en-US" altLang="ja-JP" sz="2800" dirty="0">
              <a:latin typeface="+mn-ea"/>
            </a:endParaRPr>
          </a:p>
        </p:txBody>
      </p:sp>
      <p:sp>
        <p:nvSpPr>
          <p:cNvPr id="13" name="コンテンツ プレースホルダー 2">
            <a:extLst>
              <a:ext uri="{FF2B5EF4-FFF2-40B4-BE49-F238E27FC236}">
                <a16:creationId xmlns:a16="http://schemas.microsoft.com/office/drawing/2014/main" id="{B980C405-B446-A819-F33F-65982FD8E21F}"/>
              </a:ext>
            </a:extLst>
          </p:cNvPr>
          <p:cNvSpPr txBox="1">
            <a:spLocks/>
          </p:cNvSpPr>
          <p:nvPr/>
        </p:nvSpPr>
        <p:spPr>
          <a:xfrm>
            <a:off x="6953448" y="4594392"/>
            <a:ext cx="3962400" cy="755738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sz="2800" dirty="0">
                <a:latin typeface="+mn-ea"/>
              </a:rPr>
              <a:t>“</a:t>
            </a:r>
            <a:r>
              <a:rPr lang="ja-JP" altLang="en-US" sz="2800" dirty="0">
                <a:solidFill>
                  <a:srgbClr val="FF0000"/>
                </a:solidFill>
                <a:latin typeface="+mn-ea"/>
              </a:rPr>
              <a:t>氏名は</a:t>
            </a:r>
            <a:r>
              <a:rPr lang="en-US" altLang="ja-JP" sz="2800" dirty="0">
                <a:solidFill>
                  <a:srgbClr val="FF0000"/>
                </a:solidFill>
                <a:latin typeface="+mn-ea"/>
              </a:rPr>
              <a:t>20</a:t>
            </a:r>
            <a:r>
              <a:rPr lang="ja-JP" altLang="en-US" sz="2800" dirty="0">
                <a:solidFill>
                  <a:srgbClr val="FF0000"/>
                </a:solidFill>
                <a:latin typeface="+mn-ea"/>
              </a:rPr>
              <a:t>文字以内です</a:t>
            </a:r>
            <a:r>
              <a:rPr lang="ja-JP" altLang="en-US" sz="2800" dirty="0">
                <a:latin typeface="+mn-ea"/>
              </a:rPr>
              <a:t>”のエラーメッセージの表示</a:t>
            </a:r>
            <a:endParaRPr lang="en-US" altLang="ja-JP" sz="2800" dirty="0">
              <a:latin typeface="+mn-ea"/>
            </a:endParaRPr>
          </a:p>
        </p:txBody>
      </p:sp>
      <p:sp>
        <p:nvSpPr>
          <p:cNvPr id="14" name="矢印: 右 13">
            <a:extLst>
              <a:ext uri="{FF2B5EF4-FFF2-40B4-BE49-F238E27FC236}">
                <a16:creationId xmlns:a16="http://schemas.microsoft.com/office/drawing/2014/main" id="{1BD98C09-2302-5630-DB3A-2C272900D369}"/>
              </a:ext>
            </a:extLst>
          </p:cNvPr>
          <p:cNvSpPr/>
          <p:nvPr/>
        </p:nvSpPr>
        <p:spPr>
          <a:xfrm>
            <a:off x="5834743" y="3219542"/>
            <a:ext cx="555173" cy="644048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矢印: 右 14">
            <a:extLst>
              <a:ext uri="{FF2B5EF4-FFF2-40B4-BE49-F238E27FC236}">
                <a16:creationId xmlns:a16="http://schemas.microsoft.com/office/drawing/2014/main" id="{D8489890-75E6-3C00-41AA-ADA4D40F3904}"/>
              </a:ext>
            </a:extLst>
          </p:cNvPr>
          <p:cNvSpPr/>
          <p:nvPr/>
        </p:nvSpPr>
        <p:spPr>
          <a:xfrm>
            <a:off x="5834743" y="4631280"/>
            <a:ext cx="555173" cy="644048"/>
          </a:xfrm>
          <a:prstGeom prst="rightArrow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6" name="コンテンツ プレースホルダー 2">
            <a:extLst>
              <a:ext uri="{FF2B5EF4-FFF2-40B4-BE49-F238E27FC236}">
                <a16:creationId xmlns:a16="http://schemas.microsoft.com/office/drawing/2014/main" id="{52EDE0D7-703C-3671-59E9-389A8ABFE77F}"/>
              </a:ext>
            </a:extLst>
          </p:cNvPr>
          <p:cNvSpPr txBox="1">
            <a:spLocks/>
          </p:cNvSpPr>
          <p:nvPr/>
        </p:nvSpPr>
        <p:spPr>
          <a:xfrm>
            <a:off x="6319504" y="5592133"/>
            <a:ext cx="5048449" cy="68676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en-US" altLang="ja-JP" sz="2800" dirty="0">
                <a:latin typeface="+mn-ea"/>
              </a:rPr>
              <a:t>20</a:t>
            </a:r>
            <a:r>
              <a:rPr lang="ja-JP" altLang="en-US" sz="2800" dirty="0">
                <a:latin typeface="+mn-ea"/>
              </a:rPr>
              <a:t>文字までしか入力できない制限</a:t>
            </a:r>
            <a:endParaRPr lang="en-US" altLang="ja-JP" sz="2800" dirty="0">
              <a:latin typeface="+mn-ea"/>
            </a:endParaRPr>
          </a:p>
          <a:p>
            <a:pPr marL="0" indent="0">
              <a:buFont typeface="Calibri" panose="020F0502020204030204" pitchFamily="34" charset="0"/>
              <a:buNone/>
            </a:pPr>
            <a:endParaRPr lang="en-US" altLang="ja-JP" sz="2800" dirty="0">
              <a:latin typeface="+mn-ea"/>
            </a:endParaRPr>
          </a:p>
        </p:txBody>
      </p:sp>
      <p:pic>
        <p:nvPicPr>
          <p:cNvPr id="19" name="グラフィックス 18" descr="教授 女性 単色塗りつぶし">
            <a:extLst>
              <a:ext uri="{FF2B5EF4-FFF2-40B4-BE49-F238E27FC236}">
                <a16:creationId xmlns:a16="http://schemas.microsoft.com/office/drawing/2014/main" id="{2D8A10BB-1330-5EC4-5E60-3C1907A9E9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29716" y="5448089"/>
            <a:ext cx="761311" cy="761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272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DF3CD-60B6-79AC-26C2-FEE893C1D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A5EDF6-8D87-ED3A-6393-1D88E72D7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058" y="856760"/>
            <a:ext cx="6052456" cy="830997"/>
          </a:xfrm>
        </p:spPr>
        <p:txBody>
          <a:bodyPr>
            <a:normAutofit/>
          </a:bodyPr>
          <a:lstStyle/>
          <a:p>
            <a:r>
              <a:rPr kumimoji="1" lang="ja-JP" altLang="en-US" dirty="0"/>
              <a:t>得られた成果の報告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CCEF274-005F-C66D-8E79-F984782153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3772" y="2862942"/>
            <a:ext cx="9024455" cy="192677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ja-JP" altLang="en-US" sz="2400" dirty="0">
                <a:latin typeface="+mn-ea"/>
              </a:rPr>
              <a:t>・最初の目標達成まで出来なかった。</a:t>
            </a:r>
            <a:endParaRPr lang="en-US" altLang="ja-JP" sz="2400" dirty="0">
              <a:latin typeface="+mn-ea"/>
            </a:endParaRPr>
          </a:p>
          <a:p>
            <a:pPr marL="0" indent="0">
              <a:buNone/>
            </a:pPr>
            <a:r>
              <a:rPr lang="ja-JP" altLang="en-US" sz="2400" dirty="0">
                <a:latin typeface="+mn-ea"/>
              </a:rPr>
              <a:t>・タスクを最初に把握しきれず、途中で追加のタスクができ、</a:t>
            </a:r>
            <a:endParaRPr lang="en-US" altLang="ja-JP" sz="2400" dirty="0">
              <a:latin typeface="+mn-ea"/>
            </a:endParaRPr>
          </a:p>
          <a:p>
            <a:pPr marL="0" indent="0">
              <a:buNone/>
            </a:pPr>
            <a:r>
              <a:rPr lang="ja-JP" altLang="en-US" sz="2400" dirty="0">
                <a:latin typeface="+mn-ea"/>
              </a:rPr>
              <a:t>　スケジュール修正が多かった。</a:t>
            </a:r>
            <a:endParaRPr lang="en-US" altLang="ja-JP" sz="2400" dirty="0">
              <a:latin typeface="+mn-ea"/>
            </a:endParaRPr>
          </a:p>
          <a:p>
            <a:pPr marL="0" indent="0">
              <a:buNone/>
            </a:pPr>
            <a:r>
              <a:rPr lang="ja-JP" altLang="en-US" sz="2400" dirty="0">
                <a:latin typeface="+mn-ea"/>
              </a:rPr>
              <a:t>・実装だけでなく、クラス図の作成など多くの作業で改めて</a:t>
            </a:r>
            <a:endParaRPr lang="en-US" altLang="ja-JP" sz="2400" dirty="0">
              <a:latin typeface="+mn-ea"/>
            </a:endParaRPr>
          </a:p>
          <a:p>
            <a:pPr marL="0" indent="0">
              <a:buNone/>
            </a:pPr>
            <a:r>
              <a:rPr lang="ja-JP" altLang="en-US" sz="2400" dirty="0">
                <a:latin typeface="+mn-ea"/>
              </a:rPr>
              <a:t>　テキストを確認する時間があり、時間がかかった。</a:t>
            </a:r>
            <a:endParaRPr lang="en-US" altLang="ja-JP" sz="2400" dirty="0">
              <a:latin typeface="+mn-ea"/>
            </a:endParaRPr>
          </a:p>
          <a:p>
            <a:pPr marL="0" indent="0">
              <a:buNone/>
            </a:pPr>
            <a:endParaRPr lang="en-US" altLang="ja-JP" sz="2400" dirty="0">
              <a:latin typeface="+mn-ea"/>
            </a:endParaRPr>
          </a:p>
          <a:p>
            <a:pPr marL="0" indent="0">
              <a:buNone/>
            </a:pPr>
            <a:r>
              <a:rPr lang="ja-JP" altLang="en-US" sz="2400" dirty="0">
                <a:latin typeface="+mn-ea"/>
              </a:rPr>
              <a:t>　　</a:t>
            </a:r>
            <a:endParaRPr lang="en-US" altLang="ja-JP" sz="2400" dirty="0">
              <a:latin typeface="+mn-ea"/>
            </a:endParaRPr>
          </a:p>
        </p:txBody>
      </p:sp>
      <p:sp>
        <p:nvSpPr>
          <p:cNvPr id="5" name="スライド番号プレースホルダー 7">
            <a:extLst>
              <a:ext uri="{FF2B5EF4-FFF2-40B4-BE49-F238E27FC236}">
                <a16:creationId xmlns:a16="http://schemas.microsoft.com/office/drawing/2014/main" id="{66897789-4CA5-849E-9D6A-4B4A7F912F71}"/>
              </a:ext>
            </a:extLst>
          </p:cNvPr>
          <p:cNvSpPr txBox="1">
            <a:spLocks/>
          </p:cNvSpPr>
          <p:nvPr/>
        </p:nvSpPr>
        <p:spPr>
          <a:xfrm>
            <a:off x="10499667" y="6422937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837E92-EED2-47AB-AC31-355EF2C00DF5}" type="slidenum">
              <a:rPr kumimoji="1" lang="ja-JP" altLang="en-US" sz="2000" smtClean="0"/>
              <a:pPr/>
              <a:t>11</a:t>
            </a:fld>
            <a:endParaRPr kumimoji="1" lang="ja-JP" altLang="en-US" sz="20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67FDE32-0AC4-902D-5868-5381A51FE44D}"/>
              </a:ext>
            </a:extLst>
          </p:cNvPr>
          <p:cNvSpPr txBox="1"/>
          <p:nvPr/>
        </p:nvSpPr>
        <p:spPr>
          <a:xfrm>
            <a:off x="718457" y="1973159"/>
            <a:ext cx="1404257" cy="531209"/>
          </a:xfrm>
          <a:prstGeom prst="round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FBE6CE"/>
              </a:buClr>
              <a:buSzPct val="100000"/>
              <a:buFont typeface="Calibri" panose="020F0502020204030204" pitchFamily="34" charset="0"/>
              <a:buNone/>
              <a:tabLst/>
              <a:defRPr/>
            </a:pPr>
            <a:r>
              <a:rPr kumimoji="1" lang="ja-JP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ＭＳ Ｐゴシック" panose="020B0600070205080204" pitchFamily="50" charset="-128"/>
                <a:ea typeface="ＭＳ Ｐゴシック" panose="020B0600070205080204" pitchFamily="50" charset="-128"/>
                <a:cs typeface="+mn-cs"/>
              </a:rPr>
              <a:t>反省点</a:t>
            </a:r>
            <a:endParaRPr kumimoji="1" lang="en-US" altLang="ja-JP" sz="2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ＭＳ Ｐゴシック" panose="020B0600070205080204" pitchFamily="50" charset="-128"/>
              <a:ea typeface="ＭＳ Ｐゴシック" panose="020B060007020508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53870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654DF-17C0-4E59-B9C0-8E6E17F2A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54589C-7C8D-FC69-914E-E27D339E8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058" y="856760"/>
            <a:ext cx="6052456" cy="830997"/>
          </a:xfrm>
        </p:spPr>
        <p:txBody>
          <a:bodyPr>
            <a:normAutofit/>
          </a:bodyPr>
          <a:lstStyle/>
          <a:p>
            <a:r>
              <a:rPr kumimoji="1" lang="ja-JP" altLang="en-US" dirty="0"/>
              <a:t>得られた成果の報告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69DC9DA-3B16-AFF2-C53B-012B7BAF09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5996" y="2601763"/>
            <a:ext cx="9481455" cy="82723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ja-JP" altLang="en-US" sz="2400" dirty="0">
                <a:latin typeface="+mn-ea"/>
              </a:rPr>
              <a:t>期待通りの結果にならなかった部分があり、修正を行ったがまだ改善の余地がある結果となってしまった。</a:t>
            </a:r>
            <a:endParaRPr lang="en-US" altLang="ja-JP" sz="2400" dirty="0">
              <a:latin typeface="+mn-ea"/>
            </a:endParaRPr>
          </a:p>
        </p:txBody>
      </p:sp>
      <p:sp>
        <p:nvSpPr>
          <p:cNvPr id="5" name="スライド番号プレースホルダー 7">
            <a:extLst>
              <a:ext uri="{FF2B5EF4-FFF2-40B4-BE49-F238E27FC236}">
                <a16:creationId xmlns:a16="http://schemas.microsoft.com/office/drawing/2014/main" id="{E1297C08-FFFD-9937-2C74-BCD698182CCC}"/>
              </a:ext>
            </a:extLst>
          </p:cNvPr>
          <p:cNvSpPr txBox="1">
            <a:spLocks/>
          </p:cNvSpPr>
          <p:nvPr/>
        </p:nvSpPr>
        <p:spPr>
          <a:xfrm>
            <a:off x="10499667" y="6422937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837E92-EED2-47AB-AC31-355EF2C00DF5}" type="slidenum">
              <a:rPr kumimoji="1" lang="ja-JP" altLang="en-US" sz="2000" smtClean="0"/>
              <a:pPr/>
              <a:t>12</a:t>
            </a:fld>
            <a:endParaRPr kumimoji="1" lang="ja-JP" altLang="en-US" sz="2000" dirty="0"/>
          </a:p>
        </p:txBody>
      </p:sp>
      <p:sp>
        <p:nvSpPr>
          <p:cNvPr id="11" name="矢印: 右 10">
            <a:extLst>
              <a:ext uri="{FF2B5EF4-FFF2-40B4-BE49-F238E27FC236}">
                <a16:creationId xmlns:a16="http://schemas.microsoft.com/office/drawing/2014/main" id="{3709F317-1A3B-A584-F48A-21566E53219A}"/>
              </a:ext>
            </a:extLst>
          </p:cNvPr>
          <p:cNvSpPr/>
          <p:nvPr/>
        </p:nvSpPr>
        <p:spPr>
          <a:xfrm>
            <a:off x="2161906" y="3541313"/>
            <a:ext cx="816427" cy="531209"/>
          </a:xfrm>
          <a:prstGeom prst="rightArrow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752C6939-8A5F-D256-B1DC-FEB66C07297D}"/>
              </a:ext>
            </a:extLst>
          </p:cNvPr>
          <p:cNvSpPr txBox="1"/>
          <p:nvPr/>
        </p:nvSpPr>
        <p:spPr>
          <a:xfrm>
            <a:off x="3200400" y="3429000"/>
            <a:ext cx="7465422" cy="7571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FBE6CE"/>
              </a:buClr>
              <a:buSzPct val="100000"/>
              <a:buFont typeface="Calibri" panose="020F0502020204030204" pitchFamily="34" charset="0"/>
              <a:buNone/>
              <a:tabLst/>
              <a:defRPr/>
            </a:pPr>
            <a:r>
              <a:rPr kumimoji="1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ＭＳ Ｐゴシック" panose="020B0600070205080204" pitchFamily="50" charset="-128"/>
                <a:ea typeface="ＭＳ Ｐゴシック" panose="020B0600070205080204" pitchFamily="50" charset="-128"/>
                <a:cs typeface="+mn-cs"/>
              </a:rPr>
              <a:t>テストを行ったことで、問題を見つけることができ、客観的にテストを行うことの重要性を実感できた。</a:t>
            </a:r>
            <a:endParaRPr kumimoji="1" lang="en-US" altLang="ja-JP" sz="24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ＭＳ Ｐゴシック" panose="020B0600070205080204" pitchFamily="50" charset="-128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0CBA4FC9-C47C-7945-B3CC-1F7575C0AA62}"/>
              </a:ext>
            </a:extLst>
          </p:cNvPr>
          <p:cNvSpPr txBox="1"/>
          <p:nvPr/>
        </p:nvSpPr>
        <p:spPr>
          <a:xfrm>
            <a:off x="718457" y="1973159"/>
            <a:ext cx="2238105" cy="531209"/>
          </a:xfrm>
          <a:prstGeom prst="roundRect">
            <a:avLst/>
          </a:prstGeom>
          <a:solidFill>
            <a:schemeClr val="accent1">
              <a:lumMod val="90000"/>
            </a:schemeClr>
          </a:solidFill>
        </p:spPr>
        <p:txBody>
          <a:bodyPr wrap="square">
            <a:spAutoFit/>
          </a:bodyPr>
          <a:lstStyle/>
          <a:p>
            <a:pPr lvl="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FBE6CE"/>
              </a:buClr>
              <a:buSzPct val="100000"/>
              <a:defRPr/>
            </a:pPr>
            <a:r>
              <a:rPr kumimoji="1" lang="ja-JP" altLang="en-US" sz="2800" dirty="0">
                <a:solidFill>
                  <a:srgbClr val="000000">
                    <a:lumMod val="75000"/>
                    <a:lumOff val="25000"/>
                  </a:srgbClr>
                </a:solidFill>
                <a:latin typeface="ＭＳ Ｐゴシック" panose="020B0600070205080204" pitchFamily="50" charset="-128"/>
              </a:rPr>
              <a:t>研修を通して</a:t>
            </a:r>
            <a:endParaRPr kumimoji="1" lang="en-US" altLang="ja-JP" sz="2800" dirty="0">
              <a:solidFill>
                <a:srgbClr val="000000">
                  <a:lumMod val="75000"/>
                  <a:lumOff val="25000"/>
                </a:srgbClr>
              </a:solidFill>
              <a:latin typeface="ＭＳ Ｐゴシック" panose="020B0600070205080204" pitchFamily="50" charset="-128"/>
            </a:endParaRPr>
          </a:p>
        </p:txBody>
      </p:sp>
      <p:sp>
        <p:nvSpPr>
          <p:cNvPr id="17" name="コンテンツ プレースホルダー 2">
            <a:extLst>
              <a:ext uri="{FF2B5EF4-FFF2-40B4-BE49-F238E27FC236}">
                <a16:creationId xmlns:a16="http://schemas.microsoft.com/office/drawing/2014/main" id="{5AB026A8-C552-9771-BCBA-A772E8ED96DF}"/>
              </a:ext>
            </a:extLst>
          </p:cNvPr>
          <p:cNvSpPr txBox="1">
            <a:spLocks/>
          </p:cNvSpPr>
          <p:nvPr/>
        </p:nvSpPr>
        <p:spPr>
          <a:xfrm>
            <a:off x="1695996" y="4343006"/>
            <a:ext cx="9481455" cy="82723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ja-JP" altLang="en-US" sz="2400" dirty="0">
                <a:latin typeface="+mn-ea"/>
              </a:rPr>
              <a:t>最初のスケジュール通りうまくいかず、変更や修正が多くあった。</a:t>
            </a:r>
            <a:endParaRPr lang="en-US" altLang="ja-JP" sz="2400" dirty="0">
              <a:latin typeface="+mn-ea"/>
            </a:endParaRPr>
          </a:p>
        </p:txBody>
      </p:sp>
      <p:sp>
        <p:nvSpPr>
          <p:cNvPr id="18" name="矢印: 右 17">
            <a:extLst>
              <a:ext uri="{FF2B5EF4-FFF2-40B4-BE49-F238E27FC236}">
                <a16:creationId xmlns:a16="http://schemas.microsoft.com/office/drawing/2014/main" id="{73195824-6582-A666-8D92-EB03B59DF61C}"/>
              </a:ext>
            </a:extLst>
          </p:cNvPr>
          <p:cNvSpPr/>
          <p:nvPr/>
        </p:nvSpPr>
        <p:spPr>
          <a:xfrm>
            <a:off x="2161906" y="5058964"/>
            <a:ext cx="816427" cy="531209"/>
          </a:xfrm>
          <a:prstGeom prst="rightArrow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57D70506-4FFA-D54F-CF8D-AAAB3B5E8717}"/>
              </a:ext>
            </a:extLst>
          </p:cNvPr>
          <p:cNvSpPr txBox="1"/>
          <p:nvPr/>
        </p:nvSpPr>
        <p:spPr>
          <a:xfrm>
            <a:off x="3200400" y="4946651"/>
            <a:ext cx="7465422" cy="10895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FBE6CE"/>
              </a:buClr>
              <a:buSzPct val="100000"/>
              <a:buFont typeface="Calibri" panose="020F0502020204030204" pitchFamily="34" charset="0"/>
              <a:buNone/>
              <a:tabLst/>
              <a:defRPr/>
            </a:pPr>
            <a:r>
              <a:rPr kumimoji="1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ＭＳ Ｐゴシック" panose="020B0600070205080204" pitchFamily="50" charset="-128"/>
                <a:ea typeface="ＭＳ Ｐゴシック" panose="020B0600070205080204" pitchFamily="50" charset="-128"/>
                <a:cs typeface="+mn-cs"/>
              </a:rPr>
              <a:t>スケジュールの変更がある可能性も考え、余裕を持ったスケジュールを立てること、またタスクを細分化することの重要性がわかった。</a:t>
            </a:r>
            <a:endParaRPr kumimoji="1" lang="en-US" altLang="ja-JP" sz="24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ＭＳ Ｐゴシック" panose="020B0600070205080204" pitchFamily="50" charset="-128"/>
              <a:ea typeface="ＭＳ Ｐゴシック" panose="020B060007020508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43303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57A57798-740A-05F7-FA81-2A4F91C47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37E92-EED2-47AB-AC31-355EF2C00DF5}" type="slidenum">
              <a:rPr kumimoji="1" lang="ja-JP" altLang="en-US" smtClean="0"/>
              <a:t>13</a:t>
            </a:fld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4418407-47E1-8084-E890-1E6CA99D362A}"/>
              </a:ext>
            </a:extLst>
          </p:cNvPr>
          <p:cNvSpPr txBox="1">
            <a:spLocks/>
          </p:cNvSpPr>
          <p:nvPr/>
        </p:nvSpPr>
        <p:spPr>
          <a:xfrm>
            <a:off x="3733800" y="2656115"/>
            <a:ext cx="4724400" cy="1545770"/>
          </a:xfrm>
          <a:prstGeom prst="rect">
            <a:avLst/>
          </a:prstGeom>
        </p:spPr>
        <p:txBody>
          <a:bodyPr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Calibri" panose="020F0502020204030204" pitchFamily="34" charset="0"/>
              <a:buNone/>
            </a:pPr>
            <a:r>
              <a:rPr lang="ja-JP" altLang="en-US" sz="3600" dirty="0">
                <a:latin typeface="+mn-ea"/>
              </a:rPr>
              <a:t>ご清聴</a:t>
            </a:r>
            <a:endParaRPr lang="en-US" altLang="ja-JP" sz="3600" dirty="0">
              <a:latin typeface="+mn-ea"/>
            </a:endParaRPr>
          </a:p>
          <a:p>
            <a:pPr marL="0" indent="0" algn="ctr">
              <a:buFont typeface="Calibri" panose="020F0502020204030204" pitchFamily="34" charset="0"/>
              <a:buNone/>
            </a:pPr>
            <a:r>
              <a:rPr lang="ja-JP" altLang="en-US" sz="3600" dirty="0">
                <a:latin typeface="+mn-ea"/>
              </a:rPr>
              <a:t>ありがとうございました</a:t>
            </a:r>
            <a:endParaRPr lang="en-US" altLang="ja-JP" sz="3600" dirty="0">
              <a:latin typeface="+mn-ea"/>
            </a:endParaRPr>
          </a:p>
          <a:p>
            <a:pPr marL="0" indent="0">
              <a:buFont typeface="Calibri" panose="020F0502020204030204" pitchFamily="34" charset="0"/>
              <a:buNone/>
            </a:pPr>
            <a:endParaRPr lang="en-US" altLang="ja-JP" sz="2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01749136"/>
      </p:ext>
    </p:extLst>
  </p:cSld>
  <p:clrMapOvr>
    <a:masterClrMapping/>
  </p:clrMapOvr>
</p:sld>
</file>

<file path=ppt/theme/theme1.xml><?xml version="1.0" encoding="utf-8"?>
<a:theme xmlns:a="http://schemas.openxmlformats.org/drawingml/2006/main" name="レトロスペクト">
  <a:themeElements>
    <a:clrScheme name="ユーザー定義 1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FBE6CE"/>
      </a:accent1>
      <a:accent2>
        <a:srgbClr val="E48312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レトロスペク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レトロスペクト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371</TotalTime>
  <Words>649</Words>
  <Application>Microsoft Office PowerPoint</Application>
  <PresentationFormat>ワイド画面</PresentationFormat>
  <Paragraphs>182</Paragraphs>
  <Slides>13</Slides>
  <Notes>11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8" baseType="lpstr">
      <vt:lpstr>ＭＳ Ｐゴシック</vt:lpstr>
      <vt:lpstr>游ゴシック</vt:lpstr>
      <vt:lpstr>Calibri</vt:lpstr>
      <vt:lpstr>Calibri Light</vt:lpstr>
      <vt:lpstr>レトロスペクト</vt:lpstr>
      <vt:lpstr>Web開発演習</vt:lpstr>
      <vt:lpstr>目次</vt:lpstr>
      <vt:lpstr>開発スケジュールの報告</vt:lpstr>
      <vt:lpstr>開発スケジュールの報告</vt:lpstr>
      <vt:lpstr>成果物の概要</vt:lpstr>
      <vt:lpstr>成果物の概要</vt:lpstr>
      <vt:lpstr>成果物の概要</vt:lpstr>
      <vt:lpstr>成果物の概要</vt:lpstr>
      <vt:lpstr>成果物の概要</vt:lpstr>
      <vt:lpstr>成果物の概要</vt:lpstr>
      <vt:lpstr>得られた成果の報告</vt:lpstr>
      <vt:lpstr>得られた成果の報告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opnewemp008</dc:creator>
  <cp:lastModifiedBy>opnewemp008</cp:lastModifiedBy>
  <cp:revision>3</cp:revision>
  <dcterms:created xsi:type="dcterms:W3CDTF">2026-05-28T00:45:41Z</dcterms:created>
  <dcterms:modified xsi:type="dcterms:W3CDTF">2026-05-28T07:26:05Z</dcterms:modified>
</cp:coreProperties>
</file>